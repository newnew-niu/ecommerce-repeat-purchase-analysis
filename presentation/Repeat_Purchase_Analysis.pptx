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5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c567963-6136-c772-ef39-50d44b18236e}">
          <p14:sldIdLst>
            <p14:sldId id="256"/>
            <p14:sldId id="257"/>
          </p14:sldIdLst>
        </p14:section>
        <p14:section name="Problem and approach" id="{0da4fe9b-a44c-50dc-d8b3-2343263f73c2}">
          <p14:sldIdLst>
            <p14:sldId id="258"/>
            <p14:sldId id="259"/>
            <p14:sldId id="260"/>
          </p14:sldIdLst>
        </p14:section>
        <p14:section name="Findings" id="{93e6e811-ccdb-8b1f-b9d9-b5d4be2bb5de}">
          <p14:sldIdLst>
            <p14:sldId id="261"/>
            <p14:sldId id="262"/>
            <p14:sldId id="263"/>
            <p14:sldId id="264"/>
            <p14:sldId id="265"/>
          </p14:sldIdLst>
        </p14:section>
        <p14:section name="Recommendations" id="{58908db0-6044-e511-fac5-43f74fa6670c}">
          <p14:sldIdLst>
            <p14:sldId id="266"/>
            <p14:sldId id="267"/>
            <p14:sldId id="268"/>
            <p14:sldId id="269"/>
          </p14:sldIdLst>
        </p14:section>
        <p14:section name="Conclusion" id="{197b585c-cc6e-5d7e-ad4c-995342e78831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chemeClr val="tx2"/>
                </a:solidFill>
                <a:latin typeface="+mn-lt"/>
              </a:defRPr>
            </a:pPr>
            <a:r>
              <a:rPr sz="1400" b="0" i="0" u="none" strike="noStrike">
                <a:solidFill>
                  <a:schemeClr val="tx2"/>
                </a:solidFill>
                <a:latin typeface="+mn-lt"/>
              </a:rPr>
              <a:t>30-day repeat rate by month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Headline (all orders)</c:v>
                </c:pt>
              </c:strCache>
            </c:strRef>
          </c:tx>
          <c:spPr>
            <a:solidFill>
              <a:srgbClr val="898781"/>
            </a:solidFill>
            <a:ln w="25400" cap="flat">
              <a:solidFill>
                <a:srgbClr val="89878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98781"/>
              </a:solidFill>
              <a:ln w="9525" cap="flat">
                <a:solidFill>
                  <a:srgbClr val="89878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Sheet1!$A$2:$A$18</c:f>
              <c:multiLvlStrCache>
                <c:ptCount val="17"/>
                <c:lvl>
                  <c:pt idx="0">
                    <c:v>2024-01</c:v>
                  </c:pt>
                  <c:pt idx="1">
                    <c:v>2024-02</c:v>
                  </c:pt>
                  <c:pt idx="2">
                    <c:v>2024-03</c:v>
                  </c:pt>
                  <c:pt idx="3">
                    <c:v>2024-04</c:v>
                  </c:pt>
                  <c:pt idx="4">
                    <c:v>2024-05</c:v>
                  </c:pt>
                  <c:pt idx="5">
                    <c:v>2024-06</c:v>
                  </c:pt>
                  <c:pt idx="6">
                    <c:v>2024-07</c:v>
                  </c:pt>
                  <c:pt idx="7">
                    <c:v>2024-08</c:v>
                  </c:pt>
                  <c:pt idx="8">
                    <c:v>2024-09</c:v>
                  </c:pt>
                  <c:pt idx="9">
                    <c:v>2024-10</c:v>
                  </c:pt>
                  <c:pt idx="10">
                    <c:v>2024-11</c:v>
                  </c:pt>
                  <c:pt idx="11">
                    <c:v>2024-12</c:v>
                  </c:pt>
                  <c:pt idx="12">
                    <c:v>2025-01</c:v>
                  </c:pt>
                  <c:pt idx="13">
                    <c:v>2025-02</c:v>
                  </c:pt>
                  <c:pt idx="14">
                    <c:v>2025-03</c:v>
                  </c:pt>
                  <c:pt idx="15">
                    <c:v>2025-04</c:v>
                  </c:pt>
                  <c:pt idx="16">
                    <c:v>2025-05</c:v>
                  </c:pt>
                </c:lvl>
              </c:multiLvlStrCache>
            </c:multiLvl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0.4878</c:v>
                </c:pt>
                <c:pt idx="1">
                  <c:v>0.5632</c:v>
                </c:pt>
                <c:pt idx="2">
                  <c:v>0.5535</c:v>
                </c:pt>
                <c:pt idx="3">
                  <c:v>0.5643</c:v>
                </c:pt>
                <c:pt idx="4">
                  <c:v>0.5787</c:v>
                </c:pt>
                <c:pt idx="5">
                  <c:v>0.58</c:v>
                </c:pt>
                <c:pt idx="6">
                  <c:v>0.5818</c:v>
                </c:pt>
                <c:pt idx="7">
                  <c:v>0.6038</c:v>
                </c:pt>
                <c:pt idx="8">
                  <c:v>0.5818</c:v>
                </c:pt>
                <c:pt idx="9">
                  <c:v>0.5941</c:v>
                </c:pt>
                <c:pt idx="10">
                  <c:v>0.5522</c:v>
                </c:pt>
                <c:pt idx="11">
                  <c:v>0.5495</c:v>
                </c:pt>
                <c:pt idx="12">
                  <c:v>0.5665</c:v>
                </c:pt>
                <c:pt idx="13">
                  <c:v>0.5576</c:v>
                </c:pt>
                <c:pt idx="14">
                  <c:v>0.5533</c:v>
                </c:pt>
                <c:pt idx="15">
                  <c:v>0.5685</c:v>
                </c:pt>
                <c:pt idx="16">
                  <c:v>0.5679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New customers</c:v>
                </c:pt>
              </c:strCache>
            </c:strRef>
          </c:tx>
          <c:spPr>
            <a:solidFill>
              <a:srgbClr val="2A78D6"/>
            </a:solidFill>
            <a:ln w="25400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Sheet1!$A$2:$A$18</c:f>
              <c:multiLvlStrCache>
                <c:ptCount val="17"/>
                <c:lvl>
                  <c:pt idx="0">
                    <c:v>2024-01</c:v>
                  </c:pt>
                  <c:pt idx="1">
                    <c:v>2024-02</c:v>
                  </c:pt>
                  <c:pt idx="2">
                    <c:v>2024-03</c:v>
                  </c:pt>
                  <c:pt idx="3">
                    <c:v>2024-04</c:v>
                  </c:pt>
                  <c:pt idx="4">
                    <c:v>2024-05</c:v>
                  </c:pt>
                  <c:pt idx="5">
                    <c:v>2024-06</c:v>
                  </c:pt>
                  <c:pt idx="6">
                    <c:v>2024-07</c:v>
                  </c:pt>
                  <c:pt idx="7">
                    <c:v>2024-08</c:v>
                  </c:pt>
                  <c:pt idx="8">
                    <c:v>2024-09</c:v>
                  </c:pt>
                  <c:pt idx="9">
                    <c:v>2024-10</c:v>
                  </c:pt>
                  <c:pt idx="10">
                    <c:v>2024-11</c:v>
                  </c:pt>
                  <c:pt idx="11">
                    <c:v>2024-12</c:v>
                  </c:pt>
                  <c:pt idx="12">
                    <c:v>2025-01</c:v>
                  </c:pt>
                  <c:pt idx="13">
                    <c:v>2025-02</c:v>
                  </c:pt>
                  <c:pt idx="14">
                    <c:v>2025-03</c:v>
                  </c:pt>
                  <c:pt idx="15">
                    <c:v>2025-04</c:v>
                  </c:pt>
                  <c:pt idx="16">
                    <c:v>2025-05</c:v>
                  </c:pt>
                </c:lvl>
              </c:multiLvlStrCache>
            </c:multiLvlStrRef>
          </c:cat>
          <c:val>
            <c:numRef>
              <c:f>Sheet1!$C$2:$C$18</c:f>
              <c:numCache>
                <c:formatCode>General</c:formatCode>
                <c:ptCount val="17"/>
                <c:pt idx="0">
                  <c:v>0.4625</c:v>
                </c:pt>
                <c:pt idx="1">
                  <c:v>0.5173</c:v>
                </c:pt>
                <c:pt idx="2">
                  <c:v>0.4631</c:v>
                </c:pt>
                <c:pt idx="3">
                  <c:v>0.4876</c:v>
                </c:pt>
                <c:pt idx="4">
                  <c:v>0.4698</c:v>
                </c:pt>
                <c:pt idx="5">
                  <c:v>0.451</c:v>
                </c:pt>
                <c:pt idx="6">
                  <c:v>0.4549</c:v>
                </c:pt>
                <c:pt idx="7">
                  <c:v>0.4768</c:v>
                </c:pt>
                <c:pt idx="8">
                  <c:v>0.4392</c:v>
                </c:pt>
                <c:pt idx="9">
                  <c:v>0.4739</c:v>
                </c:pt>
                <c:pt idx="10">
                  <c:v>0.4145</c:v>
                </c:pt>
                <c:pt idx="11">
                  <c:v>0.3927</c:v>
                </c:pt>
                <c:pt idx="12">
                  <c:v>0.3725</c:v>
                </c:pt>
                <c:pt idx="13">
                  <c:v>0.4009</c:v>
                </c:pt>
                <c:pt idx="14">
                  <c:v>0.3807</c:v>
                </c:pt>
                <c:pt idx="15">
                  <c:v>0.3935</c:v>
                </c:pt>
                <c:pt idx="16">
                  <c:v>0.3908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3C2B7"/>
            </a:solidFill>
            <a:prstDash val="solid"/>
            <a:round/>
          </a:ln>
        </c:spPr>
        <c:txPr>
          <a:bodyPr rot="-2700000"/>
          <a:lstStyle/>
          <a:p>
            <a:pPr>
              <a:defRPr sz="1100" b="0" i="0" u="none" strike="noStrike">
                <a:solidFill>
                  <a:srgbClr val="5F5E5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5"/>
          <c:min val="0.3"/>
        </c:scaling>
        <c:delete val="0"/>
        <c:axPos val="l"/>
        <c:majorGridlines>
          <c:spPr>
            <a:ln w="9525" cap="flat">
              <a:solidFill>
                <a:srgbClr val="E1E0D9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5E5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5F5E5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chemeClr val="tx2"/>
                </a:solidFill>
                <a:latin typeface="+mn-lt"/>
              </a:defRPr>
            </a:pPr>
            <a:r>
              <a:rPr sz="1400" b="0" i="0" u="none" strike="noStrike">
                <a:solidFill>
                  <a:schemeClr val="tx2"/>
                </a:solidFill>
                <a:latin typeface="+mn-lt"/>
              </a:rPr>
              <a:t>M+1 retention by acquisition cohort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 Nov 2024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Sheet1!$A$2:$A$18</c:f>
              <c:multiLvlStrCache>
                <c:ptCount val="17"/>
                <c:lvl>
                  <c:pt idx="0">
                    <c:v>2024-01</c:v>
                  </c:pt>
                  <c:pt idx="1">
                    <c:v>2024-02</c:v>
                  </c:pt>
                  <c:pt idx="2">
                    <c:v>2024-03</c:v>
                  </c:pt>
                  <c:pt idx="3">
                    <c:v>2024-04</c:v>
                  </c:pt>
                  <c:pt idx="4">
                    <c:v>2024-05</c:v>
                  </c:pt>
                  <c:pt idx="5">
                    <c:v>2024-06</c:v>
                  </c:pt>
                  <c:pt idx="6">
                    <c:v>2024-07</c:v>
                  </c:pt>
                  <c:pt idx="7">
                    <c:v>2024-08</c:v>
                  </c:pt>
                  <c:pt idx="8">
                    <c:v>2024-09</c:v>
                  </c:pt>
                  <c:pt idx="9">
                    <c:v>2024-10</c:v>
                  </c:pt>
                  <c:pt idx="10">
                    <c:v>2024-11</c:v>
                  </c:pt>
                  <c:pt idx="11">
                    <c:v>2024-12</c:v>
                  </c:pt>
                  <c:pt idx="12">
                    <c:v>2025-01</c:v>
                  </c:pt>
                  <c:pt idx="13">
                    <c:v>2025-02</c:v>
                  </c:pt>
                  <c:pt idx="14">
                    <c:v>2025-03</c:v>
                  </c:pt>
                  <c:pt idx="15">
                    <c:v>2025-04</c:v>
                  </c:pt>
                  <c:pt idx="16">
                    <c:v>2025-05</c:v>
                  </c:pt>
                </c:lvl>
              </c:multiLvlStrCache>
            </c:multiLvl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0.34822601839684625</c:v>
                </c:pt>
                <c:pt idx="1">
                  <c:v>0.38450899031811897</c:v>
                </c:pt>
                <c:pt idx="2">
                  <c:v>0.3454317897371715</c:v>
                </c:pt>
                <c:pt idx="3">
                  <c:v>0.36724565756823824</c:v>
                </c:pt>
                <c:pt idx="4">
                  <c:v>0.3349112426035503</c:v>
                </c:pt>
                <c:pt idx="5">
                  <c:v>0.3373639661426844</c:v>
                </c:pt>
                <c:pt idx="6">
                  <c:v>0.3522867737948084</c:v>
                </c:pt>
                <c:pt idx="7">
                  <c:v>0.337431693989071</c:v>
                </c:pt>
                <c:pt idx="8">
                  <c:v>0.3198247535596933</c:v>
                </c:pt>
                <c:pt idx="9">
                  <c:v>0.325678496868476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Nov 2024 onward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Sheet1!$A$2:$A$18</c:f>
              <c:multiLvlStrCache>
                <c:ptCount val="17"/>
                <c:lvl>
                  <c:pt idx="0">
                    <c:v>2024-01</c:v>
                  </c:pt>
                  <c:pt idx="1">
                    <c:v>2024-02</c:v>
                  </c:pt>
                  <c:pt idx="2">
                    <c:v>2024-03</c:v>
                  </c:pt>
                  <c:pt idx="3">
                    <c:v>2024-04</c:v>
                  </c:pt>
                  <c:pt idx="4">
                    <c:v>2024-05</c:v>
                  </c:pt>
                  <c:pt idx="5">
                    <c:v>2024-06</c:v>
                  </c:pt>
                  <c:pt idx="6">
                    <c:v>2024-07</c:v>
                  </c:pt>
                  <c:pt idx="7">
                    <c:v>2024-08</c:v>
                  </c:pt>
                  <c:pt idx="8">
                    <c:v>2024-09</c:v>
                  </c:pt>
                  <c:pt idx="9">
                    <c:v>2024-10</c:v>
                  </c:pt>
                  <c:pt idx="10">
                    <c:v>2024-11</c:v>
                  </c:pt>
                  <c:pt idx="11">
                    <c:v>2024-12</c:v>
                  </c:pt>
                  <c:pt idx="12">
                    <c:v>2025-01</c:v>
                  </c:pt>
                  <c:pt idx="13">
                    <c:v>2025-02</c:v>
                  </c:pt>
                  <c:pt idx="14">
                    <c:v>2025-03</c:v>
                  </c:pt>
                  <c:pt idx="15">
                    <c:v>2025-04</c:v>
                  </c:pt>
                  <c:pt idx="16">
                    <c:v>2025-05</c:v>
                  </c:pt>
                </c:lvl>
              </c:multiLvlStrCache>
            </c:multiLvlStrRef>
          </c:cat>
          <c:val>
            <c:numRef>
              <c:f>Sheet1!$C$2:$C$18</c:f>
              <c:numCache>
                <c:formatCode>General</c:formatCode>
                <c:ptCount val="1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0.2820053715308863</c:v>
                </c:pt>
                <c:pt idx="11">
                  <c:v>0.25688976377952755</c:v>
                </c:pt>
                <c:pt idx="12">
                  <c:v>0.2693409742120344</c:v>
                </c:pt>
                <c:pt idx="13">
                  <c:v>0.2775330396475771</c:v>
                </c:pt>
                <c:pt idx="14">
                  <c:v>0.25329428989751096</c:v>
                </c:pt>
                <c:pt idx="15">
                  <c:v>0.26288659793814434</c:v>
                </c:pt>
                <c:pt idx="16">
                  <c:v>0.30120481927710846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3C2B7"/>
            </a:solidFill>
            <a:prstDash val="solid"/>
            <a:round/>
          </a:ln>
        </c:spPr>
        <c:txPr>
          <a:bodyPr rot="-2700000"/>
          <a:lstStyle/>
          <a:p>
            <a:pPr>
              <a:defRPr sz="1100" b="0" i="0" u="none" strike="noStrike">
                <a:solidFill>
                  <a:srgbClr val="5F5E5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"/>
          <c:min val="0"/>
        </c:scaling>
        <c:delete val="0"/>
        <c:axPos val="l"/>
        <c:majorGridlines>
          <c:spPr>
            <a:ln w="9525" cap="flat">
              <a:solidFill>
                <a:srgbClr val="E1E0D9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5E5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5F5E5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chemeClr val="tx2"/>
                </a:solidFill>
                <a:latin typeface="+mn-lt"/>
              </a:defRPr>
            </a:pPr>
            <a:r>
              <a:rPr sz="1400" b="0" i="0" u="none" strike="noStrike">
                <a:solidFill>
                  <a:schemeClr val="tx2"/>
                </a:solidFill>
                <a:latin typeface="+mn-lt"/>
              </a:rPr>
              <a:t>30-day repeat rate by support tickets on the order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30-day repeat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1300" u="none">
                    <a:solidFill>
                      <a:schemeClr val="tx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B6834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0 tickets</c:v>
                  </c:pt>
                  <c:pt idx="1">
                    <c:v>1</c:v>
                  </c:pt>
                  <c:pt idx="2">
                    <c:v>2</c:v>
                  </c:pt>
                  <c:pt idx="3">
                    <c:v>3+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0.5918</c:v>
                </c:pt>
                <c:pt idx="1">
                  <c:v>0.4833</c:v>
                </c:pt>
                <c:pt idx="2">
                  <c:v>0.4091</c:v>
                </c:pt>
                <c:pt idx="3">
                  <c:v>0.1954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0" i="0" strike="noStrike" sz="1300" u="none">
                  <a:solidFill>
                    <a:schemeClr val="tx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3C2B7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5E5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"/>
          <c:min val="0"/>
        </c:scaling>
        <c:delete val="0"/>
        <c:axPos val="l"/>
        <c:majorGridlines>
          <c:spPr>
            <a:ln w="9525" cap="flat">
              <a:solidFill>
                <a:srgbClr val="E1E0D9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5E5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chemeClr val="tx2"/>
                </a:solidFill>
                <a:latin typeface="+mn-lt"/>
              </a:defRPr>
            </a:pPr>
            <a:r>
              <a:rPr sz="1400" b="0" i="0" u="none" strike="noStrike">
                <a:solidFill>
                  <a:schemeClr val="tx2"/>
                </a:solidFill>
                <a:latin typeface="+mn-lt"/>
              </a:rPr>
              <a:t>30-day repeat by share of past orders bought on coupon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30-day repeat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1300" u="none">
                    <a:solidFill>
                      <a:schemeClr val="tx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0-20%</c:v>
                  </c:pt>
                  <c:pt idx="1">
                    <c:v>20-40%</c:v>
                  </c:pt>
                  <c:pt idx="2">
                    <c:v>40-60%</c:v>
                  </c:pt>
                  <c:pt idx="3">
                    <c:v>60-80%</c:v>
                  </c:pt>
                  <c:pt idx="4">
                    <c:v>80-100%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0.7278</c:v>
                </c:pt>
                <c:pt idx="1">
                  <c:v>0.7301</c:v>
                </c:pt>
                <c:pt idx="2">
                  <c:v>0.6808</c:v>
                </c:pt>
                <c:pt idx="3">
                  <c:v>0.6415</c:v>
                </c:pt>
                <c:pt idx="4">
                  <c:v>0.5676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0" i="0" strike="noStrike" sz="1300" u="none">
                  <a:solidFill>
                    <a:schemeClr val="tx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3C2B7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5E5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5"/>
          <c:min val="0"/>
        </c:scaling>
        <c:delete val="0"/>
        <c:axPos val="l"/>
        <c:majorGridlines>
          <c:spPr>
            <a:ln w="9525" cap="flat">
              <a:solidFill>
                <a:srgbClr val="E1E0D9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5E5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chemeClr val="tx2"/>
                </a:solidFill>
                <a:latin typeface="+mn-lt"/>
              </a:defRPr>
            </a:pPr>
            <a:r>
              <a:rPr sz="1400" b="0" i="0" u="none" strike="noStrike">
                <a:solidFill>
                  <a:schemeClr val="tx2"/>
                </a:solidFill>
                <a:latin typeface="+mn-lt"/>
              </a:rPr>
              <a:t>Annual benefit vs cost, base case ($000)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Benefit (repeat contribution + cost avoided)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$#,##0&quot;k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chemeClr val="tx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1A Automated recovery</c:v>
                  </c:pt>
                  <c:pt idx="1">
                    <c:v>1B Human callback</c:v>
                  </c:pt>
                  <c:pt idx="2">
                    <c:v>2 Electronics/Home fix</c:v>
                  </c:pt>
                  <c:pt idx="3">
                    <c:v>3 Coupon-habit test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65.214</c:v>
                </c:pt>
                <c:pt idx="1">
                  <c:v>77.925</c:v>
                </c:pt>
                <c:pt idx="2">
                  <c:v>342.815</c:v>
                </c:pt>
                <c:pt idx="3">
                  <c:v>77.537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Programme cost</c:v>
                </c:pt>
              </c:strCache>
            </c:strRef>
          </c:tx>
          <c:spPr>
            <a:solidFill>
              <a:srgbClr val="898781"/>
            </a:solidFill>
            <a:effectLst/>
          </c:spPr>
          <c:invertIfNegative val="0"/>
          <c:dLbls>
            <c:numFmt formatCode="$#,##0&quot;k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chemeClr val="tx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1A Automated recovery</c:v>
                  </c:pt>
                  <c:pt idx="1">
                    <c:v>1B Human callback</c:v>
                  </c:pt>
                  <c:pt idx="2">
                    <c:v>2 Electronics/Home fix</c:v>
                  </c:pt>
                  <c:pt idx="3">
                    <c:v>3 Coupon-habit test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35.336</c:v>
                </c:pt>
                <c:pt idx="1">
                  <c:v>57.44</c:v>
                </c:pt>
                <c:pt idx="2">
                  <c:v>171.31</c:v>
                </c:pt>
                <c:pt idx="3">
                  <c:v>59.084</c:v>
                </c:pt>
              </c:numCache>
            </c:numRef>
          </c:val>
        </c:ser>
        <c:dLbls>
          <c:numFmt formatCode="$#,##0&quot;k&quot;" sourceLinked="0"/>
          <c:txPr>
            <a:bodyPr/>
            <a:lstStyle/>
            <a:p>
              <a:pPr>
                <a:defRPr b="0" i="0" strike="noStrike" sz="1100" u="none">
                  <a:solidFill>
                    <a:schemeClr val="tx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3C2B7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5E5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1E0D9"/>
              </a:solidFill>
              <a:prstDash val="solid"/>
              <a:round/>
            </a:ln>
          </c:spPr>
        </c:majorGridlines>
        <c:numFmt formatCode="$#,##0&quot;k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5E5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5F5E5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Portfolio project. The order log is simulated (src/00_make_dataset.py); the analysis rediscovers the planted patterns from the CSV without reading the generator's parameters. Methods transfer to real data; absolute numbers do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 KPI moved only ~2pp because loyal, high-frequency customers became a larger share of orders. Measured per new customer and per cohort, the decline is 7.5-7.6pp. Three drivers are significant with user-clustered standard errors. Recommendation: switch the KPI immediately, fix Electronics/Home post-purchase experience, and test service recovery and coupon-dependency reduction before rollout.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Audience: e-commerce / CRM leadership. Objective: explain whether and why repeat purchase is declining and which actions to fund.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safeguards: right-censoring of the last 30 days, point-in-time features, clustered standard errors, forward-in-time model validation, de-confounded coupon analysis, every business case tested against a break-even 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261 scoreable orders have 3+ tickets, so the lever is deep but narrow. Association, not proven causation: customers who are already leaving may complain more. The model-based counterfactual used for sizing is far smaller than the raw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recommendation states evidence, target, action, expected outcome and how to measure it. Effect sizes come from model counterfactuals with a realisation haircut, not from experiments, so recommendations 2-4 ship with a holdout or staged rollout.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1188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199632"/>
            <a:ext cx="8961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5F5E5A"/>
                </a:solidFill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4" name="Text 0"/>
          <p:cNvSpPr/>
          <p:nvPr/>
        </p:nvSpPr>
        <p:spPr>
          <a:xfrm>
            <a:off x="8412480" y="61996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</a:rPr>
              <a:t>Simulated data · portfolio project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199632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5E5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199632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5E5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Why New Customers Stopped Coming Back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118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Diagnosing a hidden decline in repeat purchase — and what to do about it</a:t>
            </a:r>
            <a:endParaRPr lang="en-US" sz="2000" dirty="0"/>
          </a:p>
        </p:txBody>
      </p:sp>
      <p:sp>
        <p:nvSpPr>
          <p:cNvPr id="4" name="byline-1"/>
          <p:cNvSpPr txBox="1"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E-commerce order log, Jan 2024 – Jun 2025 (simulated data)  ·  github.com/Newnew-niu/ecommerce-repeat-purchase-analysis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The reported KPI looked stable while new-customer repeat fell by 16%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199632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</a:rPr>
              <a:t>Baseline = 2024Q2–Q3, recent = 2025Q1–Q2. Sources: outputs/tables/05_kpi_summary.csv, 02_cohort_retention.csv</a:t>
            </a:r>
            <a:endParaRPr lang="en-US" sz="1000" dirty="0"/>
          </a:p>
        </p:txBody>
      </p:sp>
      <p:sp>
        <p:nvSpPr>
          <p:cNvPr id="4" name="card-2"/>
          <p:cNvSpPr/>
          <p:nvPr/>
        </p:nvSpPr>
        <p:spPr>
          <a:xfrm>
            <a:off x="548640" y="1417320"/>
            <a:ext cx="351525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tat-3"/>
          <p:cNvSpPr txBox="1"/>
          <p:nvPr/>
        </p:nvSpPr>
        <p:spPr>
          <a:xfrm>
            <a:off x="777240" y="1600200"/>
            <a:ext cx="30580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−2.0pp</a:t>
            </a:r>
            <a:endParaRPr lang="en-US" sz="4400" dirty="0"/>
          </a:p>
        </p:txBody>
      </p:sp>
      <p:sp>
        <p:nvSpPr>
          <p:cNvPr id="6" name="stat-label-4"/>
          <p:cNvSpPr txBox="1"/>
          <p:nvPr/>
        </p:nvSpPr>
        <p:spPr>
          <a:xfrm>
            <a:off x="777240" y="246888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Headline 30-day repeat</a:t>
            </a:r>
            <a:endParaRPr lang="en-US" sz="1600" dirty="0"/>
          </a:p>
        </p:txBody>
      </p:sp>
      <p:sp>
        <p:nvSpPr>
          <p:cNvPr id="7" name="stat-sub-5"/>
          <p:cNvSpPr txBox="1"/>
          <p:nvPr/>
        </p:nvSpPr>
        <p:spPr>
          <a:xfrm>
            <a:off x="777240" y="2880360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5E5A"/>
                </a:solidFill>
              </a:rPr>
              <a:t>58.2% → 56.3%. What the business reported</a:t>
            </a:r>
            <a:endParaRPr lang="en-US" sz="1400" dirty="0"/>
          </a:p>
        </p:txBody>
      </p:sp>
      <p:sp>
        <p:nvSpPr>
          <p:cNvPr id="8" name="card-6"/>
          <p:cNvSpPr/>
          <p:nvPr/>
        </p:nvSpPr>
        <p:spPr>
          <a:xfrm>
            <a:off x="4338218" y="1417320"/>
            <a:ext cx="351525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tat-7"/>
          <p:cNvSpPr txBox="1"/>
          <p:nvPr/>
        </p:nvSpPr>
        <p:spPr>
          <a:xfrm>
            <a:off x="4566818" y="1600200"/>
            <a:ext cx="30580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−7.5pp</a:t>
            </a:r>
            <a:endParaRPr lang="en-US" sz="4400" dirty="0"/>
          </a:p>
        </p:txBody>
      </p:sp>
      <p:sp>
        <p:nvSpPr>
          <p:cNvPr id="10" name="stat-label-8"/>
          <p:cNvSpPr txBox="1"/>
          <p:nvPr/>
        </p:nvSpPr>
        <p:spPr>
          <a:xfrm>
            <a:off x="4566818" y="246888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New-customer 30-day repeat</a:t>
            </a:r>
            <a:endParaRPr lang="en-US" sz="1600" dirty="0"/>
          </a:p>
        </p:txBody>
      </p:sp>
      <p:sp>
        <p:nvSpPr>
          <p:cNvPr id="11" name="stat-sub-9"/>
          <p:cNvSpPr txBox="1"/>
          <p:nvPr/>
        </p:nvSpPr>
        <p:spPr>
          <a:xfrm>
            <a:off x="4566818" y="2880360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5E5A"/>
                </a:solidFill>
              </a:rPr>
              <a:t>46.2% → 38.7% (p &lt; 0.001)</a:t>
            </a:r>
            <a:endParaRPr lang="en-US" sz="1400" dirty="0"/>
          </a:p>
        </p:txBody>
      </p:sp>
      <p:sp>
        <p:nvSpPr>
          <p:cNvPr id="12" name="card-10"/>
          <p:cNvSpPr/>
          <p:nvPr/>
        </p:nvSpPr>
        <p:spPr>
          <a:xfrm>
            <a:off x="8127797" y="1417320"/>
            <a:ext cx="351525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tat-11"/>
          <p:cNvSpPr txBox="1"/>
          <p:nvPr/>
        </p:nvSpPr>
        <p:spPr>
          <a:xfrm>
            <a:off x="8356397" y="1600200"/>
            <a:ext cx="30580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−7.6pp</a:t>
            </a:r>
            <a:endParaRPr lang="en-US" sz="4400" dirty="0"/>
          </a:p>
        </p:txBody>
      </p:sp>
      <p:sp>
        <p:nvSpPr>
          <p:cNvPr id="14" name="stat-label-12"/>
          <p:cNvSpPr txBox="1"/>
          <p:nvPr/>
        </p:nvSpPr>
        <p:spPr>
          <a:xfrm>
            <a:off x="8356397" y="246888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Cohort M+1 retention</a:t>
            </a:r>
            <a:endParaRPr lang="en-US" sz="1600" dirty="0"/>
          </a:p>
        </p:txBody>
      </p:sp>
      <p:sp>
        <p:nvSpPr>
          <p:cNvPr id="15" name="stat-sub-13"/>
          <p:cNvSpPr txBox="1"/>
          <p:nvPr/>
        </p:nvSpPr>
        <p:spPr>
          <a:xfrm>
            <a:off x="8356397" y="2880360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5E5A"/>
                </a:solidFill>
              </a:rPr>
              <a:t>34.7% → 27.2%, cohorts since Nov 2024</a:t>
            </a:r>
            <a:endParaRPr lang="en-US" sz="1400" dirty="0"/>
          </a:p>
        </p:txBody>
      </p:sp>
      <p:sp>
        <p:nvSpPr>
          <p:cNvPr id="16" name="badge-14"/>
          <p:cNvSpPr/>
          <p:nvPr/>
        </p:nvSpPr>
        <p:spPr>
          <a:xfrm>
            <a:off x="548640" y="388620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badge-n-15"/>
          <p:cNvSpPr txBox="1"/>
          <p:nvPr/>
        </p:nvSpPr>
        <p:spPr>
          <a:xfrm>
            <a:off x="548640" y="3886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8" name="text-16"/>
          <p:cNvSpPr txBox="1"/>
          <p:nvPr/>
        </p:nvSpPr>
        <p:spPr>
          <a:xfrm>
            <a:off x="1143000" y="3840480"/>
            <a:ext cx="105000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Support tickets: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Repeat collapses at the 3rd ticket (odds ratio 0.22); orders with a ticket rose from 14% to 27%</a:t>
            </a:r>
            <a:endParaRPr lang="en-US" sz="1600" dirty="0"/>
          </a:p>
        </p:txBody>
      </p:sp>
      <p:sp>
        <p:nvSpPr>
          <p:cNvPr id="19" name="badge-17"/>
          <p:cNvSpPr/>
          <p:nvPr/>
        </p:nvSpPr>
        <p:spPr>
          <a:xfrm>
            <a:off x="548640" y="461772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badge-n-18"/>
          <p:cNvSpPr txBox="1"/>
          <p:nvPr/>
        </p:nvSpPr>
        <p:spPr>
          <a:xfrm>
            <a:off x="548640" y="46177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21" name="text-19"/>
          <p:cNvSpPr txBox="1"/>
          <p:nvPr/>
        </p:nvSpPr>
        <p:spPr>
          <a:xfrm>
            <a:off x="1143000" y="4572000"/>
            <a:ext cx="105000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Electronics &amp; Home: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Highest order values, lowest repeat; tickets per order up 2.9x and 1.7x</a:t>
            </a:r>
            <a:endParaRPr lang="en-US" sz="1600" dirty="0"/>
          </a:p>
        </p:txBody>
      </p:sp>
      <p:sp>
        <p:nvSpPr>
          <p:cNvPr id="22" name="badge-20"/>
          <p:cNvSpPr/>
          <p:nvPr/>
        </p:nvSpPr>
        <p:spPr>
          <a:xfrm>
            <a:off x="548640" y="534924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badge-n-21"/>
          <p:cNvSpPr txBox="1"/>
          <p:nvPr/>
        </p:nvSpPr>
        <p:spPr>
          <a:xfrm>
            <a:off x="548640" y="5349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4" name="text-22"/>
          <p:cNvSpPr txBox="1"/>
          <p:nvPr/>
        </p:nvSpPr>
        <p:spPr>
          <a:xfrm>
            <a:off x="1143000" y="5303520"/>
            <a:ext cx="105000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Coupon dependency: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Customers who habitually buy on coupon repeat ~15pp less; a single coupon has no measurable effect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199632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5E5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Repeat customers drive most revenue, so a retention leak is expensive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199632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</a:rPr>
              <a:t>Repeat customer = 2+ orders in the observation window. Source: outputs/tables/05_customer_type_comparison.csv</a:t>
            </a:r>
            <a:endParaRPr lang="en-US" sz="1000" dirty="0"/>
          </a:p>
        </p:txBody>
      </p:sp>
      <p:sp>
        <p:nvSpPr>
          <p:cNvPr id="4" name="card-23"/>
          <p:cNvSpPr/>
          <p:nvPr/>
        </p:nvSpPr>
        <p:spPr>
          <a:xfrm>
            <a:off x="548640" y="1417320"/>
            <a:ext cx="4572000" cy="452628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hero-24"/>
          <p:cNvSpPr txBox="1"/>
          <p:nvPr/>
        </p:nvSpPr>
        <p:spPr>
          <a:xfrm>
            <a:off x="868680" y="169164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6600" dirty="0"/>
          </a:p>
        </p:txBody>
      </p:sp>
      <p:sp>
        <p:nvSpPr>
          <p:cNvPr id="6" name="text-25"/>
          <p:cNvSpPr txBox="1"/>
          <p:nvPr/>
        </p:nvSpPr>
        <p:spPr>
          <a:xfrm>
            <a:off x="868680" y="28346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of GMV comes from repeat customers, who are 54% of customers</a:t>
            </a:r>
            <a:endParaRPr lang="en-US" sz="1800" dirty="0"/>
          </a:p>
        </p:txBody>
      </p:sp>
      <p:sp>
        <p:nvSpPr>
          <p:cNvPr id="7" name="text-26"/>
          <p:cNvSpPr txBox="1"/>
          <p:nvPr/>
        </p:nvSpPr>
        <p:spPr>
          <a:xfrm>
            <a:off x="868680" y="379476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They spend less per order ($87 vs $111) but order 4.7 times on average. Their value comes from coming back, which makes the first-to-second order step the key lever.</a:t>
            </a:r>
            <a:endParaRPr lang="en-US" sz="1500" dirty="0"/>
          </a:p>
        </p:txBody>
      </p:sp>
      <p:sp>
        <p:nvSpPr>
          <p:cNvPr id="8" name="h-27"/>
          <p:cNvSpPr txBox="1"/>
          <p:nvPr/>
        </p:nvSpPr>
        <p:spPr>
          <a:xfrm>
            <a:off x="5577840" y="14173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Questions this analysis answers</a:t>
            </a:r>
            <a:endParaRPr lang="en-US" sz="2000" dirty="0"/>
          </a:p>
        </p:txBody>
      </p:sp>
      <p:sp>
        <p:nvSpPr>
          <p:cNvPr id="9" name="badge-28"/>
          <p:cNvSpPr/>
          <p:nvPr/>
        </p:nvSpPr>
        <p:spPr>
          <a:xfrm>
            <a:off x="5577840" y="2057400"/>
            <a:ext cx="420624" cy="420624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badge-n-29"/>
          <p:cNvSpPr txBox="1"/>
          <p:nvPr/>
        </p:nvSpPr>
        <p:spPr>
          <a:xfrm>
            <a:off x="557784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1" name="text-30"/>
          <p:cNvSpPr txBox="1"/>
          <p:nvPr/>
        </p:nvSpPr>
        <p:spPr>
          <a:xfrm>
            <a:off x="6172200" y="2075688"/>
            <a:ext cx="5440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Is repeat purchase really declining, or is it noise?</a:t>
            </a:r>
            <a:endParaRPr lang="en-US" sz="1700" dirty="0"/>
          </a:p>
        </p:txBody>
      </p:sp>
      <p:sp>
        <p:nvSpPr>
          <p:cNvPr id="12" name="badge-31"/>
          <p:cNvSpPr/>
          <p:nvPr/>
        </p:nvSpPr>
        <p:spPr>
          <a:xfrm>
            <a:off x="5577840" y="2926080"/>
            <a:ext cx="420624" cy="420624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badge-n-32"/>
          <p:cNvSpPr txBox="1"/>
          <p:nvPr/>
        </p:nvSpPr>
        <p:spPr>
          <a:xfrm>
            <a:off x="5577840" y="2926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-33"/>
          <p:cNvSpPr txBox="1"/>
          <p:nvPr/>
        </p:nvSpPr>
        <p:spPr>
          <a:xfrm>
            <a:off x="6172200" y="2944368"/>
            <a:ext cx="5440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Which customers are affected: new or established?</a:t>
            </a:r>
            <a:endParaRPr lang="en-US" sz="1700" dirty="0"/>
          </a:p>
        </p:txBody>
      </p:sp>
      <p:sp>
        <p:nvSpPr>
          <p:cNvPr id="15" name="badge-34"/>
          <p:cNvSpPr/>
          <p:nvPr/>
        </p:nvSpPr>
        <p:spPr>
          <a:xfrm>
            <a:off x="5577840" y="3794760"/>
            <a:ext cx="420624" cy="420624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badge-n-35"/>
          <p:cNvSpPr txBox="1"/>
          <p:nvPr/>
        </p:nvSpPr>
        <p:spPr>
          <a:xfrm>
            <a:off x="5577840" y="3794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-36"/>
          <p:cNvSpPr txBox="1"/>
          <p:nvPr/>
        </p:nvSpPr>
        <p:spPr>
          <a:xfrm>
            <a:off x="6172200" y="3813048"/>
            <a:ext cx="5440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What is associated with the decline: service, category, coupons or channel?</a:t>
            </a:r>
            <a:endParaRPr lang="en-US" sz="1700" dirty="0"/>
          </a:p>
        </p:txBody>
      </p:sp>
      <p:sp>
        <p:nvSpPr>
          <p:cNvPr id="18" name="badge-37"/>
          <p:cNvSpPr/>
          <p:nvPr/>
        </p:nvSpPr>
        <p:spPr>
          <a:xfrm>
            <a:off x="5577840" y="4663440"/>
            <a:ext cx="420624" cy="420624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badge-n-38"/>
          <p:cNvSpPr txBox="1"/>
          <p:nvPr/>
        </p:nvSpPr>
        <p:spPr>
          <a:xfrm>
            <a:off x="5577840" y="4663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text-39"/>
          <p:cNvSpPr txBox="1"/>
          <p:nvPr/>
        </p:nvSpPr>
        <p:spPr>
          <a:xfrm>
            <a:off x="6172200" y="4681728"/>
            <a:ext cx="5440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Which actions are worth funding, and how do we prove they work?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199632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5E5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Approach: clean, measure without bias, explain, then size and test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199632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</a:rPr>
              <a:t>Pipeline: src/00–06 · Full detail: REPORT.md · Logs: logs/</a:t>
            </a:r>
            <a:endParaRPr lang="en-US" sz="1000" dirty="0"/>
          </a:p>
        </p:txBody>
      </p:sp>
      <p:sp>
        <p:nvSpPr>
          <p:cNvPr id="4" name="card-40"/>
          <p:cNvSpPr/>
          <p:nvPr/>
        </p:nvSpPr>
        <p:spPr>
          <a:xfrm>
            <a:off x="548640" y="1463040"/>
            <a:ext cx="2036003" cy="2514600"/>
          </a:xfrm>
          <a:prstGeom prst="roundRect">
            <a:avLst>
              <a:gd name="adj" fmla="val 53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badge-41"/>
          <p:cNvSpPr/>
          <p:nvPr/>
        </p:nvSpPr>
        <p:spPr>
          <a:xfrm>
            <a:off x="731520" y="164592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badge-n-42"/>
          <p:cNvSpPr txBox="1"/>
          <p:nvPr/>
        </p:nvSpPr>
        <p:spPr>
          <a:xfrm>
            <a:off x="731520" y="1645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step-h-43"/>
          <p:cNvSpPr txBox="1"/>
          <p:nvPr/>
        </p:nvSpPr>
        <p:spPr>
          <a:xfrm>
            <a:off x="731520" y="2194560"/>
            <a:ext cx="167024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Data</a:t>
            </a:r>
            <a:endParaRPr lang="en-US" sz="1800" dirty="0"/>
          </a:p>
        </p:txBody>
      </p:sp>
      <p:sp>
        <p:nvSpPr>
          <p:cNvPr id="8" name="step-t-44"/>
          <p:cNvSpPr txBox="1"/>
          <p:nvPr/>
        </p:nvSpPr>
        <p:spPr>
          <a:xfrm>
            <a:off x="731520" y="2651760"/>
            <a:ext cx="1670243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42,776 raw order rows, ~14,000 customers, 9 fields; 10 realistic data-quality issues</a:t>
            </a:r>
            <a:endParaRPr lang="en-US" sz="1400" dirty="0"/>
          </a:p>
        </p:txBody>
      </p:sp>
      <p:sp>
        <p:nvSpPr>
          <p:cNvPr id="9" name="card-45"/>
          <p:cNvSpPr/>
          <p:nvPr/>
        </p:nvSpPr>
        <p:spPr>
          <a:xfrm>
            <a:off x="2813243" y="1463040"/>
            <a:ext cx="2036003" cy="2514600"/>
          </a:xfrm>
          <a:prstGeom prst="roundRect">
            <a:avLst>
              <a:gd name="adj" fmla="val 53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badge-46"/>
          <p:cNvSpPr/>
          <p:nvPr/>
        </p:nvSpPr>
        <p:spPr>
          <a:xfrm>
            <a:off x="2996123" y="164592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badge-n-47"/>
          <p:cNvSpPr txBox="1"/>
          <p:nvPr/>
        </p:nvSpPr>
        <p:spPr>
          <a:xfrm>
            <a:off x="2996123" y="1645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step-h-48"/>
          <p:cNvSpPr txBox="1"/>
          <p:nvPr/>
        </p:nvSpPr>
        <p:spPr>
          <a:xfrm>
            <a:off x="2996123" y="2194560"/>
            <a:ext cx="167024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Clean</a:t>
            </a:r>
            <a:endParaRPr lang="en-US" sz="1800" dirty="0"/>
          </a:p>
        </p:txBody>
      </p:sp>
      <p:sp>
        <p:nvSpPr>
          <p:cNvPr id="13" name="step-t-49"/>
          <p:cNvSpPr txBox="1"/>
          <p:nvPr/>
        </p:nvSpPr>
        <p:spPr>
          <a:xfrm>
            <a:off x="2996123" y="2651760"/>
            <a:ext cx="1670243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97.7% of rows kept; every removal counted; last 30 days censored</a:t>
            </a:r>
            <a:endParaRPr lang="en-US" sz="1400" dirty="0"/>
          </a:p>
        </p:txBody>
      </p:sp>
      <p:sp>
        <p:nvSpPr>
          <p:cNvPr id="14" name="card-50"/>
          <p:cNvSpPr/>
          <p:nvPr/>
        </p:nvSpPr>
        <p:spPr>
          <a:xfrm>
            <a:off x="5077846" y="1463040"/>
            <a:ext cx="2036003" cy="2514600"/>
          </a:xfrm>
          <a:prstGeom prst="roundRect">
            <a:avLst>
              <a:gd name="adj" fmla="val 53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badge-51"/>
          <p:cNvSpPr/>
          <p:nvPr/>
        </p:nvSpPr>
        <p:spPr>
          <a:xfrm>
            <a:off x="5260726" y="164592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badge-n-52"/>
          <p:cNvSpPr txBox="1"/>
          <p:nvPr/>
        </p:nvSpPr>
        <p:spPr>
          <a:xfrm>
            <a:off x="5260726" y="1645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step-h-53"/>
          <p:cNvSpPr txBox="1"/>
          <p:nvPr/>
        </p:nvSpPr>
        <p:spPr>
          <a:xfrm>
            <a:off x="5260726" y="2194560"/>
            <a:ext cx="167024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Measure</a:t>
            </a:r>
            <a:endParaRPr lang="en-US" sz="1800" dirty="0"/>
          </a:p>
        </p:txBody>
      </p:sp>
      <p:sp>
        <p:nvSpPr>
          <p:cNvPr id="18" name="step-t-54"/>
          <p:cNvSpPr txBox="1"/>
          <p:nvPr/>
        </p:nvSpPr>
        <p:spPr>
          <a:xfrm>
            <a:off x="5260726" y="2651760"/>
            <a:ext cx="1670243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Order-, customer- and cohort-level KPIs; segment profiles</a:t>
            </a:r>
            <a:endParaRPr lang="en-US" sz="1400" dirty="0"/>
          </a:p>
        </p:txBody>
      </p:sp>
      <p:sp>
        <p:nvSpPr>
          <p:cNvPr id="19" name="card-55"/>
          <p:cNvSpPr/>
          <p:nvPr/>
        </p:nvSpPr>
        <p:spPr>
          <a:xfrm>
            <a:off x="7342449" y="1463040"/>
            <a:ext cx="2036003" cy="2514600"/>
          </a:xfrm>
          <a:prstGeom prst="roundRect">
            <a:avLst>
              <a:gd name="adj" fmla="val 53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badge-56"/>
          <p:cNvSpPr/>
          <p:nvPr/>
        </p:nvSpPr>
        <p:spPr>
          <a:xfrm>
            <a:off x="7525329" y="164592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badge-n-57"/>
          <p:cNvSpPr txBox="1"/>
          <p:nvPr/>
        </p:nvSpPr>
        <p:spPr>
          <a:xfrm>
            <a:off x="7525329" y="1645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step-h-58"/>
          <p:cNvSpPr txBox="1"/>
          <p:nvPr/>
        </p:nvSpPr>
        <p:spPr>
          <a:xfrm>
            <a:off x="7525329" y="2194560"/>
            <a:ext cx="167024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Explain</a:t>
            </a:r>
            <a:endParaRPr lang="en-US" sz="1800" dirty="0"/>
          </a:p>
        </p:txBody>
      </p:sp>
      <p:sp>
        <p:nvSpPr>
          <p:cNvPr id="23" name="step-t-59"/>
          <p:cNvSpPr txBox="1"/>
          <p:nvPr/>
        </p:nvSpPr>
        <p:spPr>
          <a:xfrm>
            <a:off x="7525329" y="2651760"/>
            <a:ext cx="1670243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Logistic regression (user-clustered SEs) + gradient boosting, forward-in-time holdout AUC 0.72</a:t>
            </a:r>
            <a:endParaRPr lang="en-US" sz="1400" dirty="0"/>
          </a:p>
        </p:txBody>
      </p:sp>
      <p:sp>
        <p:nvSpPr>
          <p:cNvPr id="24" name="card-60"/>
          <p:cNvSpPr/>
          <p:nvPr/>
        </p:nvSpPr>
        <p:spPr>
          <a:xfrm>
            <a:off x="9607052" y="1463040"/>
            <a:ext cx="2036003" cy="2514600"/>
          </a:xfrm>
          <a:prstGeom prst="roundRect">
            <a:avLst>
              <a:gd name="adj" fmla="val 53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badge-61"/>
          <p:cNvSpPr/>
          <p:nvPr/>
        </p:nvSpPr>
        <p:spPr>
          <a:xfrm>
            <a:off x="9789932" y="164592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badge-n-62"/>
          <p:cNvSpPr txBox="1"/>
          <p:nvPr/>
        </p:nvSpPr>
        <p:spPr>
          <a:xfrm>
            <a:off x="9789932" y="1645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step-h-63"/>
          <p:cNvSpPr txBox="1"/>
          <p:nvPr/>
        </p:nvSpPr>
        <p:spPr>
          <a:xfrm>
            <a:off x="9789932" y="2194560"/>
            <a:ext cx="167024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Size &amp; check</a:t>
            </a:r>
            <a:endParaRPr lang="en-US" sz="1800" dirty="0"/>
          </a:p>
        </p:txBody>
      </p:sp>
      <p:sp>
        <p:nvSpPr>
          <p:cNvPr id="28" name="step-t-64"/>
          <p:cNvSpPr txBox="1"/>
          <p:nvPr/>
        </p:nvSpPr>
        <p:spPr>
          <a:xfrm>
            <a:off x="9789932" y="2651760"/>
            <a:ext cx="1670243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Break-even business cases, sensitivity grid, SQL cross-check (9/9 pass)</a:t>
            </a:r>
            <a:endParaRPr lang="en-US" sz="1400" dirty="0"/>
          </a:p>
        </p:txBody>
      </p:sp>
      <p:sp>
        <p:nvSpPr>
          <p:cNvPr id="29" name="card-65"/>
          <p:cNvSpPr/>
          <p:nvPr/>
        </p:nvSpPr>
        <p:spPr>
          <a:xfrm>
            <a:off x="548640" y="4297680"/>
            <a:ext cx="11094415" cy="1280160"/>
          </a:xfrm>
          <a:prstGeom prst="roundRect">
            <a:avLst>
              <a:gd name="adj" fmla="val 8571"/>
            </a:avLst>
          </a:prstGeom>
          <a:solidFill>
            <a:srgbClr val="FDF0EA"/>
          </a:solidFill>
          <a:ln w="12700">
            <a:solidFill>
              <a:srgbClr val="FDF0EA"/>
            </a:solidFill>
            <a:prstDash val="solid"/>
          </a:ln>
        </p:spPr>
      </p:sp>
      <p:sp>
        <p:nvSpPr>
          <p:cNvPr id="30" name="text-66"/>
          <p:cNvSpPr txBox="1"/>
          <p:nvPr/>
        </p:nvSpPr>
        <p:spPr>
          <a:xfrm>
            <a:off x="822960" y="4462272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Data provenance.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No production data was available, so the order log is simulated with known patterns. The analysis never reads the simulator's settings; it rediscovers them from the data. This deck therefore demonstrates analytical method. The numbers are not real-world facts.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199632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5E5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Three repeat metrics, three different questions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199632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</a:rPr>
              <a:t>Full definitions: docs/kpi_definitions.md · Implemented once in src/kpis.py and re-checked in SQL</a:t>
            </a:r>
            <a:endParaRPr lang="en-US" sz="1000" dirty="0"/>
          </a:p>
        </p:txBody>
      </p:sp>
      <p:graphicFrame>
        <p:nvGraphicFramePr>
          <p:cNvPr id="6" name="kpi-table-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554480"/>
                <a:gridCol w="4572000"/>
                <a:gridCol w="249905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KPI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Unit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Numerator ÷ denominator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Use it for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Order-level 30-day repeat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Order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Orders followed by another order ≤30 days ÷ orders ≥30 days before snapshot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What was reported; distorted by customer mix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New-customer 30-day repeat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Customer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First-time customers who reorder ≤30 days ÷ first-time customers ≥30 days before snapshot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Primary KPI for acquisition quality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Cohort M+1 retention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Customer × month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Cohort customers ordering in the next calendar month ÷ cohort size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Retention trend by acquisition month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Average order value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Order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GMV ÷ orders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Basket value; compare segments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card-68"/>
          <p:cNvSpPr/>
          <p:nvPr/>
        </p:nvSpPr>
        <p:spPr>
          <a:xfrm>
            <a:off x="548640" y="4892040"/>
            <a:ext cx="11094415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-69"/>
          <p:cNvSpPr txBox="1"/>
          <p:nvPr/>
        </p:nvSpPr>
        <p:spPr>
          <a:xfrm>
            <a:off x="822960" y="507492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Why it matters: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repeat rate, retention rate and cohort retention use different units and denominators. Mixing them up is how this decline went unnoticed.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199632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5E5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The headline rate hid the decline as loyal customers grew as a share of orders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199632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</a:rPr>
              <a:t>Source: outputs/tables/02_monthly_trend.csv, 02_order_mix_drift.csv · Orders within 30 days of the snapshot excluded</a:t>
            </a:r>
            <a:endParaRPr lang="en-US" sz="1000" dirty="0"/>
          </a:p>
        </p:txBody>
      </p:sp>
      <p:graphicFrame>
        <p:nvGraphicFramePr>
          <p:cNvPr id="4" name="chart-70" descr=""/>
          <p:cNvGraphicFramePr/>
          <p:nvPr/>
        </p:nvGraphicFramePr>
        <p:xfrm>
          <a:off x="548640" y="1371600"/>
          <a:ext cx="74066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-71"/>
          <p:cNvSpPr/>
          <p:nvPr/>
        </p:nvSpPr>
        <p:spPr>
          <a:xfrm>
            <a:off x="8229600" y="1417320"/>
            <a:ext cx="3413455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tat-72"/>
          <p:cNvSpPr txBox="1"/>
          <p:nvPr/>
        </p:nvSpPr>
        <p:spPr>
          <a:xfrm>
            <a:off x="8458200" y="1600200"/>
            <a:ext cx="29562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42%</a:t>
            </a:r>
            <a:endParaRPr lang="en-US" sz="4400" dirty="0"/>
          </a:p>
        </p:txBody>
      </p:sp>
      <p:sp>
        <p:nvSpPr>
          <p:cNvPr id="7" name="stat-label-73"/>
          <p:cNvSpPr txBox="1"/>
          <p:nvPr/>
        </p:nvSpPr>
        <p:spPr>
          <a:xfrm>
            <a:off x="8458200" y="2468880"/>
            <a:ext cx="2956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of orders from loyal customers</a:t>
            </a:r>
            <a:endParaRPr lang="en-US" sz="1600" dirty="0"/>
          </a:p>
        </p:txBody>
      </p:sp>
      <p:sp>
        <p:nvSpPr>
          <p:cNvPr id="8" name="stat-sub-74"/>
          <p:cNvSpPr txBox="1"/>
          <p:nvPr/>
        </p:nvSpPr>
        <p:spPr>
          <a:xfrm>
            <a:off x="8458200" y="2880360"/>
            <a:ext cx="2956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5E5A"/>
                </a:solidFill>
              </a:rPr>
              <a:t>Customers with 4+ prior orders, May 2025 (0% in Jan 2024). They repeat at ~70%.</a:t>
            </a:r>
            <a:endParaRPr lang="en-US" sz="1400" dirty="0"/>
          </a:p>
        </p:txBody>
      </p:sp>
      <p:sp>
        <p:nvSpPr>
          <p:cNvPr id="9" name="text-75"/>
          <p:cNvSpPr txBox="1"/>
          <p:nvPr/>
        </p:nvSpPr>
        <p:spPr>
          <a:xfrm>
            <a:off x="8229600" y="3931920"/>
            <a:ext cx="341345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 the average barely moved, while each new cohort came back less often.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Track new-customer repeat and cohort retention, not the blended headline.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199632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5E5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Every cohort acquired since November 2024 retains worse, at any time window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199632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</a:rPr>
              <a:t>Source: outputs/tables/02_cohort_retention.csv, 05_window_sensitivity.csv · Robustness uses the same customers under each window</a:t>
            </a:r>
            <a:endParaRPr lang="en-US" sz="1000" dirty="0"/>
          </a:p>
        </p:txBody>
      </p:sp>
      <p:graphicFrame>
        <p:nvGraphicFramePr>
          <p:cNvPr id="4" name="chart-76" descr=""/>
          <p:cNvGraphicFramePr/>
          <p:nvPr/>
        </p:nvGraphicFramePr>
        <p:xfrm>
          <a:off x="548640" y="1371600"/>
          <a:ext cx="69494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h-77"/>
          <p:cNvSpPr txBox="1"/>
          <p:nvPr/>
        </p:nvSpPr>
        <p:spPr>
          <a:xfrm>
            <a:off x="7818120" y="1417320"/>
            <a:ext cx="3822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Is it just the 30-day window?</a:t>
            </a:r>
            <a:endParaRPr lang="en-US" sz="1800" dirty="0"/>
          </a:p>
        </p:txBody>
      </p:sp>
      <p:graphicFrame>
        <p:nvGraphicFramePr>
          <p:cNvPr id="8" name="win-table-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18120" y="1920240"/>
          <a:ext cx="3822192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941832"/>
                <a:gridCol w="941832"/>
                <a:gridCol w="932688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Window</a:t>
                      </a:r>
                      <a:endParaRPr lang="en-US" sz="1400" dirty="0"/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Baseline</a:t>
                      </a:r>
                      <a:endParaRPr lang="en-US" sz="1400" dirty="0"/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Recent</a:t>
                      </a:r>
                      <a:endParaRPr lang="en-US" sz="1400" dirty="0"/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Change</a:t>
                      </a:r>
                      <a:endParaRPr lang="en-US" sz="1400" dirty="0"/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30 days</a:t>
                      </a:r>
                      <a:endParaRPr lang="en-US" sz="1400" dirty="0"/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46.2%</a:t>
                      </a:r>
                      <a:endParaRPr lang="en-US" sz="1400" dirty="0"/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39.5%</a:t>
                      </a:r>
                      <a:endParaRPr lang="en-US" sz="1400" dirty="0"/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−6.8pp</a:t>
                      </a:r>
                      <a:endParaRPr lang="en-US" sz="1400" dirty="0"/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60 days</a:t>
                      </a:r>
                      <a:endParaRPr lang="en-US" sz="1400" dirty="0"/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49.9%</a:t>
                      </a:r>
                      <a:endParaRPr lang="en-US" sz="1400" dirty="0"/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42.9%</a:t>
                      </a:r>
                      <a:endParaRPr lang="en-US" sz="1400" dirty="0"/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−7.0pp</a:t>
                      </a:r>
                      <a:endParaRPr lang="en-US" sz="1400" dirty="0"/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90 days</a:t>
                      </a:r>
                      <a:endParaRPr lang="en-US" sz="1400" dirty="0"/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54.2%</a:t>
                      </a:r>
                      <a:endParaRPr lang="en-US" sz="1400" dirty="0"/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46.4%</a:t>
                      </a:r>
                      <a:endParaRPr lang="en-US" sz="1400" dirty="0"/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−7.8pp</a:t>
                      </a:r>
                      <a:endParaRPr lang="en-US" sz="1400" dirty="0"/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-79"/>
          <p:cNvSpPr txBox="1"/>
          <p:nvPr/>
        </p:nvSpPr>
        <p:spPr>
          <a:xfrm>
            <a:off x="7818120" y="3840480"/>
            <a:ext cx="382219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No. The gap holds at 30, 60 and 90 days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(all p &lt; 1e-10). New-customer repeat, share of customers who order again. Baseline cohorts Apr–Sep 2024 (n=4,932); recent Nov 2024–Mar 2025 (n=4,195).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199632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5E5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Repeat purchase collapses at the third support ticket, and ticket load has doubled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199632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</a:rPr>
              <a:t>Source: outputs/tables/05_ticket_robustness.csv, 03_odds_ratios.csv, 02_ticket_trend.csv, 02_ticket_by_category_month.csv</a:t>
            </a:r>
            <a:endParaRPr lang="en-US" sz="1000" dirty="0"/>
          </a:p>
        </p:txBody>
      </p:sp>
      <p:graphicFrame>
        <p:nvGraphicFramePr>
          <p:cNvPr id="4" name="chart-80" descr=""/>
          <p:cNvGraphicFramePr/>
          <p:nvPr/>
        </p:nvGraphicFramePr>
        <p:xfrm>
          <a:off x="548640" y="1371600"/>
          <a:ext cx="60350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-81"/>
          <p:cNvSpPr/>
          <p:nvPr/>
        </p:nvSpPr>
        <p:spPr>
          <a:xfrm>
            <a:off x="6903720" y="1417320"/>
            <a:ext cx="228600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tat-82"/>
          <p:cNvSpPr txBox="1"/>
          <p:nvPr/>
        </p:nvSpPr>
        <p:spPr>
          <a:xfrm>
            <a:off x="7132320" y="16002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0.22</a:t>
            </a:r>
            <a:endParaRPr lang="en-US" sz="4400" dirty="0"/>
          </a:p>
        </p:txBody>
      </p:sp>
      <p:sp>
        <p:nvSpPr>
          <p:cNvPr id="7" name="stat-label-83"/>
          <p:cNvSpPr txBox="1"/>
          <p:nvPr/>
        </p:nvSpPr>
        <p:spPr>
          <a:xfrm>
            <a:off x="7132320" y="2468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Odds ratio, 3+ tickets</a:t>
            </a:r>
            <a:endParaRPr lang="en-US" sz="1600" dirty="0"/>
          </a:p>
        </p:txBody>
      </p:sp>
      <p:sp>
        <p:nvSpPr>
          <p:cNvPr id="8" name="stat-sub-84"/>
          <p:cNvSpPr txBox="1"/>
          <p:nvPr/>
        </p:nvSpPr>
        <p:spPr>
          <a:xfrm>
            <a:off x="7132320" y="28803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5E5A"/>
                </a:solidFill>
              </a:rPr>
              <a:t>95% CI 0.16–0.30, after controls</a:t>
            </a:r>
            <a:endParaRPr lang="en-US" sz="1400" dirty="0"/>
          </a:p>
        </p:txBody>
      </p:sp>
      <p:sp>
        <p:nvSpPr>
          <p:cNvPr id="9" name="card-85"/>
          <p:cNvSpPr/>
          <p:nvPr/>
        </p:nvSpPr>
        <p:spPr>
          <a:xfrm>
            <a:off x="9354312" y="1417320"/>
            <a:ext cx="228600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tat-86"/>
          <p:cNvSpPr txBox="1"/>
          <p:nvPr/>
        </p:nvSpPr>
        <p:spPr>
          <a:xfrm>
            <a:off x="9582912" y="16002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14%→27%</a:t>
            </a:r>
            <a:endParaRPr lang="en-US" sz="2600" dirty="0"/>
          </a:p>
        </p:txBody>
      </p:sp>
      <p:sp>
        <p:nvSpPr>
          <p:cNvPr id="11" name="stat-label-87"/>
          <p:cNvSpPr txBox="1"/>
          <p:nvPr/>
        </p:nvSpPr>
        <p:spPr>
          <a:xfrm>
            <a:off x="9582912" y="2468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Orders with a ticket</a:t>
            </a:r>
            <a:endParaRPr lang="en-US" sz="1600" dirty="0"/>
          </a:p>
        </p:txBody>
      </p:sp>
      <p:sp>
        <p:nvSpPr>
          <p:cNvPr id="12" name="stat-sub-88"/>
          <p:cNvSpPr txBox="1"/>
          <p:nvPr/>
        </p:nvSpPr>
        <p:spPr>
          <a:xfrm>
            <a:off x="9582912" y="28803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5E5A"/>
                </a:solidFill>
              </a:rPr>
              <a:t>Jan 2024 → Jun 2025</a:t>
            </a:r>
            <a:endParaRPr lang="en-US" sz="1400" dirty="0"/>
          </a:p>
        </p:txBody>
      </p:sp>
      <p:sp>
        <p:nvSpPr>
          <p:cNvPr id="13" name="text-89"/>
          <p:cNvSpPr txBox="1"/>
          <p:nvPr/>
        </p:nvSpPr>
        <p:spPr>
          <a:xfrm>
            <a:off x="6903720" y="3931920"/>
            <a:ext cx="473659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Where the strain landed: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Electronics tickets per order rose from 0.24 to 0.69, Home from 0.25 to 0.42. These are the highest-value categories. The ticket gradient holds within every category.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199632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5E5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Coupons are not the problem; coupon dependency is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199632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</a:rPr>
              <a:t>Customers with 3+ prior orders only, to avoid one-order customers having a 100% coupon rate by construction. Source: 02_tipping_discount.csv, 03_odds_ratios.csv</a:t>
            </a:r>
            <a:endParaRPr lang="en-US" sz="1000" dirty="0"/>
          </a:p>
        </p:txBody>
      </p:sp>
      <p:graphicFrame>
        <p:nvGraphicFramePr>
          <p:cNvPr id="4" name="chart-90" descr=""/>
          <p:cNvGraphicFramePr/>
          <p:nvPr/>
        </p:nvGraphicFramePr>
        <p:xfrm>
          <a:off x="548640" y="1371600"/>
          <a:ext cx="60350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-91"/>
          <p:cNvSpPr/>
          <p:nvPr/>
        </p:nvSpPr>
        <p:spPr>
          <a:xfrm>
            <a:off x="6903720" y="1417320"/>
            <a:ext cx="228600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tat-92"/>
          <p:cNvSpPr txBox="1"/>
          <p:nvPr/>
        </p:nvSpPr>
        <p:spPr>
          <a:xfrm>
            <a:off x="7132320" y="16002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0.96</a:t>
            </a:r>
            <a:endParaRPr lang="en-US" sz="4400" dirty="0"/>
          </a:p>
        </p:txBody>
      </p:sp>
      <p:sp>
        <p:nvSpPr>
          <p:cNvPr id="7" name="stat-label-93"/>
          <p:cNvSpPr txBox="1"/>
          <p:nvPr/>
        </p:nvSpPr>
        <p:spPr>
          <a:xfrm>
            <a:off x="7132320" y="2468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Coupon on this order</a:t>
            </a:r>
            <a:endParaRPr lang="en-US" sz="1600" dirty="0"/>
          </a:p>
        </p:txBody>
      </p:sp>
      <p:sp>
        <p:nvSpPr>
          <p:cNvPr id="8" name="stat-sub-94"/>
          <p:cNvSpPr txBox="1"/>
          <p:nvPr/>
        </p:nvSpPr>
        <p:spPr>
          <a:xfrm>
            <a:off x="7132320" y="28803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5E5A"/>
                </a:solidFill>
              </a:rPr>
              <a:t>Not significant (p = 0.28)</a:t>
            </a:r>
            <a:endParaRPr lang="en-US" sz="1400" dirty="0"/>
          </a:p>
        </p:txBody>
      </p:sp>
      <p:sp>
        <p:nvSpPr>
          <p:cNvPr id="9" name="card-95"/>
          <p:cNvSpPr/>
          <p:nvPr/>
        </p:nvSpPr>
        <p:spPr>
          <a:xfrm>
            <a:off x="9354312" y="1417320"/>
            <a:ext cx="228600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tat-96"/>
          <p:cNvSpPr txBox="1"/>
          <p:nvPr/>
        </p:nvSpPr>
        <p:spPr>
          <a:xfrm>
            <a:off x="9582912" y="16002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0.50</a:t>
            </a:r>
            <a:endParaRPr lang="en-US" sz="4400" dirty="0"/>
          </a:p>
        </p:txBody>
      </p:sp>
      <p:sp>
        <p:nvSpPr>
          <p:cNvPr id="11" name="stat-label-97"/>
          <p:cNvSpPr txBox="1"/>
          <p:nvPr/>
        </p:nvSpPr>
        <p:spPr>
          <a:xfrm>
            <a:off x="9582912" y="2468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Habitual coupon use</a:t>
            </a:r>
            <a:endParaRPr lang="en-US" sz="1600" dirty="0"/>
          </a:p>
        </p:txBody>
      </p:sp>
      <p:sp>
        <p:nvSpPr>
          <p:cNvPr id="12" name="stat-sub-98"/>
          <p:cNvSpPr txBox="1"/>
          <p:nvPr/>
        </p:nvSpPr>
        <p:spPr>
          <a:xfrm>
            <a:off x="9582912" y="28803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5E5A"/>
                </a:solidFill>
              </a:rPr>
              <a:t>Always vs never; p &lt; 0.001</a:t>
            </a:r>
            <a:endParaRPr lang="en-US" sz="1400" dirty="0"/>
          </a:p>
        </p:txBody>
      </p:sp>
      <p:sp>
        <p:nvSpPr>
          <p:cNvPr id="13" name="text-99"/>
          <p:cNvSpPr txBox="1"/>
          <p:nvPr/>
        </p:nvSpPr>
        <p:spPr>
          <a:xfrm>
            <a:off x="6903720" y="3931920"/>
            <a:ext cx="473659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Implication: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do not stop couponing. Break the habit for customers who only buy on discount. This is also the weakest causal link (low-intent customers may seek coupons), so test it before rollout.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199632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5E5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Service and coupon dependency explain about half of the decline; the rest needs new data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199632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</a:rPr>
              <a:t>Logit ladder on the post-Oct-2024 period effect, with lifecycle, category, channel and order-value controls. Source: 03_mediation_ladder.csv</a:t>
            </a:r>
            <a:endParaRPr lang="en-US" sz="1000" dirty="0"/>
          </a:p>
        </p:txBody>
      </p:sp>
      <p:sp>
        <p:nvSpPr>
          <p:cNvPr id="4" name="seg-100"/>
          <p:cNvSpPr/>
          <p:nvPr/>
        </p:nvSpPr>
        <p:spPr>
          <a:xfrm>
            <a:off x="548640" y="1828800"/>
            <a:ext cx="1465143" cy="1005840"/>
          </a:xfrm>
          <a:prstGeom prst="rect">
            <a:avLst/>
          </a:prstGeom>
          <a:solidFill>
            <a:srgbClr val="2A78D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seg-v-101"/>
          <p:cNvSpPr txBox="1"/>
          <p:nvPr/>
        </p:nvSpPr>
        <p:spPr>
          <a:xfrm>
            <a:off x="548640" y="1828800"/>
            <a:ext cx="146514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13%</a:t>
            </a:r>
            <a:endParaRPr lang="en-US" sz="2400" dirty="0"/>
          </a:p>
        </p:txBody>
      </p:sp>
      <p:sp>
        <p:nvSpPr>
          <p:cNvPr id="6" name="seg-l-102"/>
          <p:cNvSpPr txBox="1"/>
          <p:nvPr/>
        </p:nvSpPr>
        <p:spPr>
          <a:xfrm>
            <a:off x="594360" y="2907792"/>
            <a:ext cx="137370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Support tickets &amp; returns</a:t>
            </a:r>
            <a:endParaRPr lang="en-US" sz="1400" dirty="0"/>
          </a:p>
        </p:txBody>
      </p:sp>
      <p:sp>
        <p:nvSpPr>
          <p:cNvPr id="7" name="seg-103"/>
          <p:cNvSpPr/>
          <p:nvPr/>
        </p:nvSpPr>
        <p:spPr>
          <a:xfrm>
            <a:off x="2013783" y="1828800"/>
            <a:ext cx="3996978" cy="1005840"/>
          </a:xfrm>
          <a:prstGeom prst="rect">
            <a:avLst/>
          </a:prstGeom>
          <a:solidFill>
            <a:srgbClr val="9EC5F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seg-v-104"/>
          <p:cNvSpPr txBox="1"/>
          <p:nvPr/>
        </p:nvSpPr>
        <p:spPr>
          <a:xfrm>
            <a:off x="2013783" y="1828800"/>
            <a:ext cx="3996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36%</a:t>
            </a:r>
            <a:endParaRPr lang="en-US" sz="2400" dirty="0"/>
          </a:p>
        </p:txBody>
      </p:sp>
      <p:sp>
        <p:nvSpPr>
          <p:cNvPr id="9" name="seg-l-105"/>
          <p:cNvSpPr txBox="1"/>
          <p:nvPr/>
        </p:nvSpPr>
        <p:spPr>
          <a:xfrm>
            <a:off x="2059503" y="2907792"/>
            <a:ext cx="3905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Coupon dependency</a:t>
            </a:r>
            <a:endParaRPr lang="en-US" sz="1400" dirty="0"/>
          </a:p>
        </p:txBody>
      </p:sp>
      <p:sp>
        <p:nvSpPr>
          <p:cNvPr id="10" name="seg-106"/>
          <p:cNvSpPr/>
          <p:nvPr/>
        </p:nvSpPr>
        <p:spPr>
          <a:xfrm>
            <a:off x="6010761" y="1828800"/>
            <a:ext cx="5632294" cy="1005840"/>
          </a:xfrm>
          <a:prstGeom prst="rect">
            <a:avLst/>
          </a:prstGeom>
          <a:solidFill>
            <a:srgbClr val="D9D8D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seg-v-107"/>
          <p:cNvSpPr txBox="1"/>
          <p:nvPr/>
        </p:nvSpPr>
        <p:spPr>
          <a:xfrm>
            <a:off x="6010761" y="1828800"/>
            <a:ext cx="563229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51%</a:t>
            </a:r>
            <a:endParaRPr lang="en-US" sz="2400" dirty="0"/>
          </a:p>
        </p:txBody>
      </p:sp>
      <p:sp>
        <p:nvSpPr>
          <p:cNvPr id="12" name="seg-l-108"/>
          <p:cNvSpPr txBox="1"/>
          <p:nvPr/>
        </p:nvSpPr>
        <p:spPr>
          <a:xfrm>
            <a:off x="6056481" y="2907792"/>
            <a:ext cx="55408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Not observable in the order log</a:t>
            </a:r>
            <a:endParaRPr lang="en-US" sz="1400" dirty="0"/>
          </a:p>
        </p:txBody>
      </p:sp>
      <p:sp>
        <p:nvSpPr>
          <p:cNvPr id="13" name="cap-109"/>
          <p:cNvSpPr txBox="1"/>
          <p:nvPr/>
        </p:nvSpPr>
        <p:spPr>
          <a:xfrm>
            <a:off x="548640" y="1371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5E5A"/>
                </a:solidFill>
              </a:rPr>
              <a:t>Share of the controlled decline in 30-day repeat (log-odds scale)</a:t>
            </a:r>
            <a:endParaRPr lang="en-US" sz="1400" dirty="0"/>
          </a:p>
        </p:txBody>
      </p:sp>
      <p:sp>
        <p:nvSpPr>
          <p:cNvPr id="14" name="card-110"/>
          <p:cNvSpPr/>
          <p:nvPr/>
        </p:nvSpPr>
        <p:spPr>
          <a:xfrm>
            <a:off x="548640" y="3657600"/>
            <a:ext cx="3515258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h-111"/>
          <p:cNvSpPr txBox="1"/>
          <p:nvPr/>
        </p:nvSpPr>
        <p:spPr>
          <a:xfrm>
            <a:off x="777240" y="3822192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Hidden by mix</a:t>
            </a:r>
            <a:endParaRPr lang="en-US" sz="1800" dirty="0"/>
          </a:p>
        </p:txBody>
      </p:sp>
      <p:sp>
        <p:nvSpPr>
          <p:cNvPr id="16" name="t-112"/>
          <p:cNvSpPr txBox="1"/>
          <p:nvPr/>
        </p:nvSpPr>
        <p:spPr>
          <a:xfrm>
            <a:off x="777240" y="4279392"/>
            <a:ext cx="30580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Measured naively the period effect is not significant (OR 0.96, p = 0.10). With controls it is clear (OR 0.77).</a:t>
            </a:r>
            <a:endParaRPr lang="en-US" sz="1500" dirty="0"/>
          </a:p>
        </p:txBody>
      </p:sp>
      <p:sp>
        <p:nvSpPr>
          <p:cNvPr id="17" name="card-113"/>
          <p:cNvSpPr/>
          <p:nvPr/>
        </p:nvSpPr>
        <p:spPr>
          <a:xfrm>
            <a:off x="4338218" y="3657600"/>
            <a:ext cx="3515258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h-114"/>
          <p:cNvSpPr txBox="1"/>
          <p:nvPr/>
        </p:nvSpPr>
        <p:spPr>
          <a:xfrm>
            <a:off x="4566818" y="3822192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Partly explained</a:t>
            </a:r>
            <a:endParaRPr lang="en-US" sz="1800" dirty="0"/>
          </a:p>
        </p:txBody>
      </p:sp>
      <p:sp>
        <p:nvSpPr>
          <p:cNvPr id="19" name="t-115"/>
          <p:cNvSpPr txBox="1"/>
          <p:nvPr/>
        </p:nvSpPr>
        <p:spPr>
          <a:xfrm>
            <a:off x="4566818" y="4279392"/>
            <a:ext cx="30580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Tickets, returns and coupon dependency absorb 49% of it. These are the levers in the recommendations.</a:t>
            </a:r>
            <a:endParaRPr lang="en-US" sz="1500" dirty="0"/>
          </a:p>
        </p:txBody>
      </p:sp>
      <p:sp>
        <p:nvSpPr>
          <p:cNvPr id="20" name="card-116"/>
          <p:cNvSpPr/>
          <p:nvPr/>
        </p:nvSpPr>
        <p:spPr>
          <a:xfrm>
            <a:off x="8127797" y="3657600"/>
            <a:ext cx="3515258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h-117"/>
          <p:cNvSpPr txBox="1"/>
          <p:nvPr/>
        </p:nvSpPr>
        <p:spPr>
          <a:xfrm>
            <a:off x="8356397" y="3822192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Next data to collect</a:t>
            </a:r>
            <a:endParaRPr lang="en-US" sz="1800" dirty="0"/>
          </a:p>
        </p:txBody>
      </p:sp>
      <p:sp>
        <p:nvSpPr>
          <p:cNvPr id="22" name="t-118"/>
          <p:cNvSpPr txBox="1"/>
          <p:nvPr/>
        </p:nvSpPr>
        <p:spPr>
          <a:xfrm>
            <a:off x="8356397" y="4279392"/>
            <a:ext cx="30580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Delivery times, stockouts and assortment changes. The order log cannot see them, and they are the best candidates for the rest.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199632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5E5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Four actions, ordered by strength of evidence and value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199632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</a:rPr>
              <a:t>Net contribution = base-case annual planning estimate (10% sample assumption). Source: outputs/tables/04_business_cases.csv</a:t>
            </a:r>
            <a:endParaRPr lang="en-US" sz="1000" dirty="0"/>
          </a:p>
        </p:txBody>
      </p:sp>
      <p:sp>
        <p:nvSpPr>
          <p:cNvPr id="4" name="card-119"/>
          <p:cNvSpPr/>
          <p:nvPr/>
        </p:nvSpPr>
        <p:spPr>
          <a:xfrm>
            <a:off x="548640" y="1417320"/>
            <a:ext cx="541004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badge-120"/>
          <p:cNvSpPr/>
          <p:nvPr/>
        </p:nvSpPr>
        <p:spPr>
          <a:xfrm>
            <a:off x="777240" y="1645920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badge-n-121"/>
          <p:cNvSpPr txBox="1"/>
          <p:nvPr/>
        </p:nvSpPr>
        <p:spPr>
          <a:xfrm>
            <a:off x="777240" y="1645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h-122"/>
          <p:cNvSpPr txBox="1"/>
          <p:nvPr/>
        </p:nvSpPr>
        <p:spPr>
          <a:xfrm>
            <a:off x="1325880" y="1618488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Switch the KPI</a:t>
            </a:r>
            <a:endParaRPr lang="en-US" sz="1900" dirty="0"/>
          </a:p>
        </p:txBody>
      </p:sp>
      <p:sp>
        <p:nvSpPr>
          <p:cNvPr id="8" name="tag-123"/>
          <p:cNvSpPr txBox="1"/>
          <p:nvPr/>
        </p:nvSpPr>
        <p:spPr>
          <a:xfrm>
            <a:off x="1325880" y="2057400"/>
            <a:ext cx="440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This week · no cost</a:t>
            </a:r>
            <a:endParaRPr lang="en-US" sz="1400" dirty="0"/>
          </a:p>
        </p:txBody>
      </p:sp>
      <p:sp>
        <p:nvSpPr>
          <p:cNvPr id="9" name="b-124"/>
          <p:cNvSpPr txBox="1"/>
          <p:nvPr/>
        </p:nvSpPr>
        <p:spPr>
          <a:xfrm>
            <a:off x="777240" y="2441448"/>
            <a:ext cx="495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Report new-customer repeat and cohort M+1 weekly; keep the headline as a secondary metric.</a:t>
            </a:r>
            <a:endParaRPr lang="en-US" sz="1400" dirty="0"/>
          </a:p>
        </p:txBody>
      </p:sp>
      <p:sp>
        <p:nvSpPr>
          <p:cNvPr id="10" name="m-125"/>
          <p:cNvSpPr txBox="1"/>
          <p:nvPr/>
        </p:nvSpPr>
        <p:spPr>
          <a:xfrm>
            <a:off x="777240" y="3154680"/>
            <a:ext cx="495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5E5A"/>
                </a:solidFill>
              </a:rPr>
              <a:t>Measure: adopted in the weekly business review</a:t>
            </a:r>
            <a:endParaRPr lang="en-US" sz="1300" dirty="0"/>
          </a:p>
        </p:txBody>
      </p:sp>
      <p:sp>
        <p:nvSpPr>
          <p:cNvPr id="11" name="card-126"/>
          <p:cNvSpPr/>
          <p:nvPr/>
        </p:nvSpPr>
        <p:spPr>
          <a:xfrm>
            <a:off x="6233008" y="1417320"/>
            <a:ext cx="541004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badge-127"/>
          <p:cNvSpPr/>
          <p:nvPr/>
        </p:nvSpPr>
        <p:spPr>
          <a:xfrm>
            <a:off x="6461608" y="164592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badge-n-128"/>
          <p:cNvSpPr txBox="1"/>
          <p:nvPr/>
        </p:nvSpPr>
        <p:spPr>
          <a:xfrm>
            <a:off x="6461608" y="1645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h-129"/>
          <p:cNvSpPr txBox="1"/>
          <p:nvPr/>
        </p:nvSpPr>
        <p:spPr>
          <a:xfrm>
            <a:off x="7010248" y="1618488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Fix Electronics &amp; Home after-sales</a:t>
            </a:r>
            <a:endParaRPr lang="en-US" sz="1900" dirty="0"/>
          </a:p>
        </p:txBody>
      </p:sp>
      <p:sp>
        <p:nvSpPr>
          <p:cNvPr id="15" name="tag-130"/>
          <p:cNvSpPr txBox="1"/>
          <p:nvPr/>
        </p:nvSpPr>
        <p:spPr>
          <a:xfrm>
            <a:off x="7010248" y="2057400"/>
            <a:ext cx="440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Base case $172k net / yr</a:t>
            </a:r>
            <a:endParaRPr lang="en-US" sz="1400" dirty="0"/>
          </a:p>
        </p:txBody>
      </p:sp>
      <p:sp>
        <p:nvSpPr>
          <p:cNvPr id="16" name="b-131"/>
          <p:cNvSpPr txBox="1"/>
          <p:nvPr/>
        </p:nvSpPr>
        <p:spPr>
          <a:xfrm>
            <a:off x="6461608" y="2441448"/>
            <a:ext cx="495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Product information, proactive delivery updates and inbound quality checks to cut tickets at the source.</a:t>
            </a:r>
            <a:endParaRPr lang="en-US" sz="1400" dirty="0"/>
          </a:p>
        </p:txBody>
      </p:sp>
      <p:sp>
        <p:nvSpPr>
          <p:cNvPr id="17" name="m-132"/>
          <p:cNvSpPr txBox="1"/>
          <p:nvPr/>
        </p:nvSpPr>
        <p:spPr>
          <a:xfrm>
            <a:off x="6461608" y="3154680"/>
            <a:ext cx="495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5E5A"/>
                </a:solidFill>
              </a:rPr>
              <a:t>Measure: tickets per order ≤ 0.35; staged rollout by category</a:t>
            </a:r>
            <a:endParaRPr lang="en-US" sz="1300" dirty="0"/>
          </a:p>
        </p:txBody>
      </p:sp>
      <p:sp>
        <p:nvSpPr>
          <p:cNvPr id="18" name="card-133"/>
          <p:cNvSpPr/>
          <p:nvPr/>
        </p:nvSpPr>
        <p:spPr>
          <a:xfrm>
            <a:off x="548640" y="3840480"/>
            <a:ext cx="541004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badge-134"/>
          <p:cNvSpPr/>
          <p:nvPr/>
        </p:nvSpPr>
        <p:spPr>
          <a:xfrm>
            <a:off x="777240" y="406908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badge-n-135"/>
          <p:cNvSpPr txBox="1"/>
          <p:nvPr/>
        </p:nvSpPr>
        <p:spPr>
          <a:xfrm>
            <a:off x="777240" y="4069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h-136"/>
          <p:cNvSpPr txBox="1"/>
          <p:nvPr/>
        </p:nvSpPr>
        <p:spPr>
          <a:xfrm>
            <a:off x="1325880" y="4041648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Recover at the 2nd ticket</a:t>
            </a:r>
            <a:endParaRPr lang="en-US" sz="1900" dirty="0"/>
          </a:p>
        </p:txBody>
      </p:sp>
      <p:sp>
        <p:nvSpPr>
          <p:cNvPr id="22" name="tag-137"/>
          <p:cNvSpPr txBox="1"/>
          <p:nvPr/>
        </p:nvSpPr>
        <p:spPr>
          <a:xfrm>
            <a:off x="1325880" y="4480560"/>
            <a:ext cx="440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Base case $50k net / yr</a:t>
            </a:r>
            <a:endParaRPr lang="en-US" sz="1400" dirty="0"/>
          </a:p>
        </p:txBody>
      </p:sp>
      <p:sp>
        <p:nvSpPr>
          <p:cNvPr id="23" name="b-138"/>
          <p:cNvSpPr txBox="1"/>
          <p:nvPr/>
        </p:nvSpPr>
        <p:spPr>
          <a:xfrm>
            <a:off x="777240" y="4864608"/>
            <a:ext cx="495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Automated recovery at 2 tickets; senior-agent callback at 3+. Tiering follows from break-even costs.</a:t>
            </a:r>
            <a:endParaRPr lang="en-US" sz="1400" dirty="0"/>
          </a:p>
        </p:txBody>
      </p:sp>
      <p:sp>
        <p:nvSpPr>
          <p:cNvPr id="24" name="m-139"/>
          <p:cNvSpPr txBox="1"/>
          <p:nvPr/>
        </p:nvSpPr>
        <p:spPr>
          <a:xfrm>
            <a:off x="777240" y="5577840"/>
            <a:ext cx="495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5E5A"/>
                </a:solidFill>
              </a:rPr>
              <a:t>Measure: 2 tickets: 10% holdout, fewer escalations; 3+: 50/50 test, repeat</a:t>
            </a:r>
            <a:endParaRPr lang="en-US" sz="1300" dirty="0"/>
          </a:p>
        </p:txBody>
      </p:sp>
      <p:sp>
        <p:nvSpPr>
          <p:cNvPr id="25" name="card-140"/>
          <p:cNvSpPr/>
          <p:nvPr/>
        </p:nvSpPr>
        <p:spPr>
          <a:xfrm>
            <a:off x="6233008" y="3840480"/>
            <a:ext cx="541004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badge-141"/>
          <p:cNvSpPr/>
          <p:nvPr/>
        </p:nvSpPr>
        <p:spPr>
          <a:xfrm>
            <a:off x="6461608" y="4069080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7" name="badge-n-142"/>
          <p:cNvSpPr txBox="1"/>
          <p:nvPr/>
        </p:nvSpPr>
        <p:spPr>
          <a:xfrm>
            <a:off x="6461608" y="4069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8" name="h-143"/>
          <p:cNvSpPr txBox="1"/>
          <p:nvPr/>
        </p:nvSpPr>
        <p:spPr>
          <a:xfrm>
            <a:off x="7010248" y="4041648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Test coupon-habit reduction</a:t>
            </a:r>
            <a:endParaRPr lang="en-US" sz="1900" dirty="0"/>
          </a:p>
        </p:txBody>
      </p:sp>
      <p:sp>
        <p:nvSpPr>
          <p:cNvPr id="29" name="tag-144"/>
          <p:cNvSpPr txBox="1"/>
          <p:nvPr/>
        </p:nvSpPr>
        <p:spPr>
          <a:xfrm>
            <a:off x="7010248" y="4480560"/>
            <a:ext cx="440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Base case $18k net / yr if proven</a:t>
            </a:r>
            <a:endParaRPr lang="en-US" sz="1400" dirty="0"/>
          </a:p>
        </p:txBody>
      </p:sp>
      <p:sp>
        <p:nvSpPr>
          <p:cNvPr id="30" name="b-145"/>
          <p:cNvSpPr txBox="1"/>
          <p:nvPr/>
        </p:nvSpPr>
        <p:spPr>
          <a:xfrm>
            <a:off x="6461608" y="4864608"/>
            <a:ext cx="495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Targeted CRM for customers who buy ≥60% on coupon. Weakest causal evidence.</a:t>
            </a:r>
            <a:endParaRPr lang="en-US" sz="1400" dirty="0"/>
          </a:p>
        </p:txBody>
      </p:sp>
      <p:sp>
        <p:nvSpPr>
          <p:cNvPr id="31" name="m-146"/>
          <p:cNvSpPr txBox="1"/>
          <p:nvPr/>
        </p:nvSpPr>
        <p:spPr>
          <a:xfrm>
            <a:off x="6461608" y="5577840"/>
            <a:ext cx="495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5E5A"/>
                </a:solidFill>
              </a:rPr>
              <a:t>Measure: A/B test before any rollout; repeat and margin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199632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5E5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Base case: ~$240k net contribution a year, but only if the uplift is proven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199632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</a:rPr>
              <a:t>Annualised, contribution margin 42%, assumes the data is a 10% customer sample. Source: 04_business_cases.csv, 04_sensitivity.csv</a:t>
            </a:r>
            <a:endParaRPr lang="en-US" sz="1000" dirty="0"/>
          </a:p>
        </p:txBody>
      </p:sp>
      <p:graphicFrame>
        <p:nvGraphicFramePr>
          <p:cNvPr id="4" name="chart-147" descr=""/>
          <p:cNvGraphicFramePr/>
          <p:nvPr/>
        </p:nvGraphicFramePr>
        <p:xfrm>
          <a:off x="548640" y="1371600"/>
          <a:ext cx="69494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-148"/>
          <p:cNvSpPr/>
          <p:nvPr/>
        </p:nvSpPr>
        <p:spPr>
          <a:xfrm>
            <a:off x="7818120" y="1417320"/>
            <a:ext cx="3822192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tat-149"/>
          <p:cNvSpPr txBox="1"/>
          <p:nvPr/>
        </p:nvSpPr>
        <p:spPr>
          <a:xfrm>
            <a:off x="8046720" y="1600200"/>
            <a:ext cx="3364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$240,321</a:t>
            </a:r>
            <a:endParaRPr lang="en-US" sz="4400" dirty="0"/>
          </a:p>
        </p:txBody>
      </p:sp>
      <p:sp>
        <p:nvSpPr>
          <p:cNvPr id="7" name="stat-label-150"/>
          <p:cNvSpPr txBox="1"/>
          <p:nvPr/>
        </p:nvSpPr>
        <p:spPr>
          <a:xfrm>
            <a:off x="8046720" y="2468880"/>
            <a:ext cx="3364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Net contribution / yr</a:t>
            </a:r>
            <a:endParaRPr lang="en-US" sz="1600" dirty="0"/>
          </a:p>
        </p:txBody>
      </p:sp>
      <p:sp>
        <p:nvSpPr>
          <p:cNvPr id="8" name="stat-sub-151"/>
          <p:cNvSpPr txBox="1"/>
          <p:nvPr/>
        </p:nvSpPr>
        <p:spPr>
          <a:xfrm>
            <a:off x="8046720" y="2880360"/>
            <a:ext cx="3364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5E5A"/>
                </a:solidFill>
              </a:rPr>
              <a:t>on $323,170 cost · net ROI 0.74x · $852,230 incremental GMV</a:t>
            </a:r>
            <a:endParaRPr lang="en-US" sz="1400" dirty="0"/>
          </a:p>
        </p:txBody>
      </p:sp>
      <p:sp>
        <p:nvSpPr>
          <p:cNvPr id="9" name="text-152"/>
          <p:cNvSpPr txBox="1"/>
          <p:nvPr/>
        </p:nvSpPr>
        <p:spPr>
          <a:xfrm>
            <a:off x="7818120" y="3611880"/>
            <a:ext cx="38221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Risks, stated up front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13 of 18 sensitivity scenarios are value-positive.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With zero repeat uplift the portfolio loses $117,615; savings alone do not pay for it.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Effects come from observational models, so run the controlled tests first.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199632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5E5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An interactive dashboard keeps the right KPIs in front of the team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199632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</a:rPr>
              <a:t>Screenshot of dashboard/app.py running locally (Streamlit). Run: streamlit run dashboard/app.py</a:t>
            </a:r>
            <a:endParaRPr lang="en-US" sz="1000" dirty="0"/>
          </a:p>
        </p:txBody>
      </p:sp>
      <p:pic>
        <p:nvPicPr>
          <p:cNvPr id="4" name="screenshot-153" descr="D:\Desktop\GIT\ecommerce-repeat-purchase-analysis\docs\images\dashboard_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583680" cy="4677878"/>
          </a:xfrm>
          <a:prstGeom prst="rect">
            <a:avLst/>
          </a:prstGeom>
        </p:spPr>
      </p:pic>
      <p:sp>
        <p:nvSpPr>
          <p:cNvPr id="5" name="frame-154"/>
          <p:cNvSpPr/>
          <p:nvPr/>
        </p:nvSpPr>
        <p:spPr>
          <a:xfrm>
            <a:off x="548640" y="1371600"/>
            <a:ext cx="6583680" cy="4677878"/>
          </a:xfrm>
          <a:prstGeom prst="rect">
            <a:avLst/>
          </a:prstGeom>
          <a:ln w="12700">
            <a:solidFill>
              <a:srgbClr val="D5DCE6"/>
            </a:solidFill>
            <a:prstDash val="solid"/>
          </a:ln>
        </p:spPr>
      </p:sp>
      <p:sp>
        <p:nvSpPr>
          <p:cNvPr id="6" name="bullets-155"/>
          <p:cNvSpPr txBox="1"/>
          <p:nvPr/>
        </p:nvSpPr>
        <p:spPr>
          <a:xfrm>
            <a:off x="7498080" y="1463040"/>
            <a:ext cx="4142232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KPI tiles use the same code as the analysis (src/kpis.py); automated tests check they match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Filters: month range, acquisition channel, category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Tabs: overview, cohorts, customer behaviour, drivers, recommendations, definitions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Every chart has hover tooltips and a plain-English caption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199632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5E5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Roadmap: change the metric this week, prove the levers within six months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199632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</a:rPr>
              <a:t>Owners are suggested functions. Dates are relative to approval.</a:t>
            </a:r>
            <a:endParaRPr lang="en-US" sz="1000" dirty="0"/>
          </a:p>
        </p:txBody>
      </p:sp>
      <p:sp>
        <p:nvSpPr>
          <p:cNvPr id="4" name="timeline-156"/>
          <p:cNvSpPr/>
          <p:nvPr/>
        </p:nvSpPr>
        <p:spPr>
          <a:xfrm>
            <a:off x="758952" y="1856232"/>
            <a:ext cx="10673791" cy="0"/>
          </a:xfrm>
          <a:prstGeom prst="line">
            <a:avLst/>
          </a:prstGeom>
          <a:noFill/>
          <a:ln w="19050">
            <a:solidFill>
              <a:srgbClr val="C3C2B7"/>
            </a:solidFill>
            <a:prstDash val="solid"/>
          </a:ln>
        </p:spPr>
      </p:sp>
      <p:sp>
        <p:nvSpPr>
          <p:cNvPr id="5" name="badge-157"/>
          <p:cNvSpPr/>
          <p:nvPr/>
        </p:nvSpPr>
        <p:spPr>
          <a:xfrm>
            <a:off x="548640" y="1645920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badge-n-158"/>
          <p:cNvSpPr txBox="1"/>
          <p:nvPr/>
        </p:nvSpPr>
        <p:spPr>
          <a:xfrm>
            <a:off x="548640" y="1645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when-159"/>
          <p:cNvSpPr txBox="1"/>
          <p:nvPr/>
        </p:nvSpPr>
        <p:spPr>
          <a:xfrm>
            <a:off x="548640" y="224028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Week 1–2</a:t>
            </a:r>
            <a:endParaRPr lang="en-US" sz="1800" dirty="0"/>
          </a:p>
        </p:txBody>
      </p:sp>
      <p:sp>
        <p:nvSpPr>
          <p:cNvPr id="8" name="card-160"/>
          <p:cNvSpPr/>
          <p:nvPr/>
        </p:nvSpPr>
        <p:spPr>
          <a:xfrm>
            <a:off x="548640" y="2743200"/>
            <a:ext cx="2072579" cy="2377440"/>
          </a:xfrm>
          <a:prstGeom prst="roundRect">
            <a:avLst>
              <a:gd name="adj" fmla="val 529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what-161"/>
          <p:cNvSpPr txBox="1"/>
          <p:nvPr/>
        </p:nvSpPr>
        <p:spPr>
          <a:xfrm>
            <a:off x="713232" y="2907792"/>
            <a:ext cx="174339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Switch reporting to new-customer repeat &amp; cohort M+1; real-time alert at 2 tickets</a:t>
            </a:r>
            <a:endParaRPr lang="en-US" sz="1500" dirty="0"/>
          </a:p>
        </p:txBody>
      </p:sp>
      <p:sp>
        <p:nvSpPr>
          <p:cNvPr id="10" name="who-162"/>
          <p:cNvSpPr txBox="1"/>
          <p:nvPr/>
        </p:nvSpPr>
        <p:spPr>
          <a:xfrm>
            <a:off x="713232" y="4343400"/>
            <a:ext cx="17433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i="1" dirty="0">
                <a:solidFill>
                  <a:srgbClr val="5F5E5A"/>
                </a:solidFill>
              </a:rPr>
              <a:t>Analytics, Data Eng</a:t>
            </a:r>
            <a:endParaRPr lang="en-US" sz="1300" dirty="0"/>
          </a:p>
        </p:txBody>
      </p:sp>
      <p:sp>
        <p:nvSpPr>
          <p:cNvPr id="11" name="badge-163"/>
          <p:cNvSpPr/>
          <p:nvPr/>
        </p:nvSpPr>
        <p:spPr>
          <a:xfrm>
            <a:off x="2804099" y="164592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badge-n-164"/>
          <p:cNvSpPr txBox="1"/>
          <p:nvPr/>
        </p:nvSpPr>
        <p:spPr>
          <a:xfrm>
            <a:off x="2804099" y="1645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when-165"/>
          <p:cNvSpPr txBox="1"/>
          <p:nvPr/>
        </p:nvSpPr>
        <p:spPr>
          <a:xfrm>
            <a:off x="2804099" y="224028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Week 3–8</a:t>
            </a:r>
            <a:endParaRPr lang="en-US" sz="1800" dirty="0"/>
          </a:p>
        </p:txBody>
      </p:sp>
      <p:sp>
        <p:nvSpPr>
          <p:cNvPr id="14" name="card-166"/>
          <p:cNvSpPr/>
          <p:nvPr/>
        </p:nvSpPr>
        <p:spPr>
          <a:xfrm>
            <a:off x="2804099" y="2743200"/>
            <a:ext cx="2072579" cy="2377440"/>
          </a:xfrm>
          <a:prstGeom prst="roundRect">
            <a:avLst>
              <a:gd name="adj" fmla="val 529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what-167"/>
          <p:cNvSpPr txBox="1"/>
          <p:nvPr/>
        </p:nvSpPr>
        <p:spPr>
          <a:xfrm>
            <a:off x="2968691" y="2907792"/>
            <a:ext cx="174339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Launch automated recovery (10% holdout) and callbacks (50/50 test, ~6 months)</a:t>
            </a:r>
            <a:endParaRPr lang="en-US" sz="1500" dirty="0"/>
          </a:p>
        </p:txBody>
      </p:sp>
      <p:sp>
        <p:nvSpPr>
          <p:cNvPr id="16" name="who-168"/>
          <p:cNvSpPr txBox="1"/>
          <p:nvPr/>
        </p:nvSpPr>
        <p:spPr>
          <a:xfrm>
            <a:off x="2968691" y="4343400"/>
            <a:ext cx="17433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i="1" dirty="0">
                <a:solidFill>
                  <a:srgbClr val="5F5E5A"/>
                </a:solidFill>
              </a:rPr>
              <a:t>Customer Service Ops</a:t>
            </a:r>
            <a:endParaRPr lang="en-US" sz="1300" dirty="0"/>
          </a:p>
        </p:txBody>
      </p:sp>
      <p:sp>
        <p:nvSpPr>
          <p:cNvPr id="17" name="badge-169"/>
          <p:cNvSpPr/>
          <p:nvPr/>
        </p:nvSpPr>
        <p:spPr>
          <a:xfrm>
            <a:off x="5059558" y="164592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badge-n-170"/>
          <p:cNvSpPr txBox="1"/>
          <p:nvPr/>
        </p:nvSpPr>
        <p:spPr>
          <a:xfrm>
            <a:off x="5059558" y="1645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when-171"/>
          <p:cNvSpPr txBox="1"/>
          <p:nvPr/>
        </p:nvSpPr>
        <p:spPr>
          <a:xfrm>
            <a:off x="5059558" y="224028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Month 2–5</a:t>
            </a:r>
            <a:endParaRPr lang="en-US" sz="1800" dirty="0"/>
          </a:p>
        </p:txBody>
      </p:sp>
      <p:sp>
        <p:nvSpPr>
          <p:cNvPr id="20" name="card-172"/>
          <p:cNvSpPr/>
          <p:nvPr/>
        </p:nvSpPr>
        <p:spPr>
          <a:xfrm>
            <a:off x="5059558" y="2743200"/>
            <a:ext cx="2072579" cy="2377440"/>
          </a:xfrm>
          <a:prstGeom prst="roundRect">
            <a:avLst>
              <a:gd name="adj" fmla="val 529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what-173"/>
          <p:cNvSpPr txBox="1"/>
          <p:nvPr/>
        </p:nvSpPr>
        <p:spPr>
          <a:xfrm>
            <a:off x="5224150" y="2907792"/>
            <a:ext cx="174339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Electronics/Home: product content, delivery updates, inbound QC; staged rollout</a:t>
            </a:r>
            <a:endParaRPr lang="en-US" sz="1500" dirty="0"/>
          </a:p>
        </p:txBody>
      </p:sp>
      <p:sp>
        <p:nvSpPr>
          <p:cNvPr id="22" name="who-174"/>
          <p:cNvSpPr txBox="1"/>
          <p:nvPr/>
        </p:nvSpPr>
        <p:spPr>
          <a:xfrm>
            <a:off x="5224150" y="4343400"/>
            <a:ext cx="17433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i="1" dirty="0">
                <a:solidFill>
                  <a:srgbClr val="5F5E5A"/>
                </a:solidFill>
              </a:rPr>
              <a:t>Merchandising, Fulfilment</a:t>
            </a:r>
            <a:endParaRPr lang="en-US" sz="1300" dirty="0"/>
          </a:p>
        </p:txBody>
      </p:sp>
      <p:sp>
        <p:nvSpPr>
          <p:cNvPr id="23" name="badge-175"/>
          <p:cNvSpPr/>
          <p:nvPr/>
        </p:nvSpPr>
        <p:spPr>
          <a:xfrm>
            <a:off x="7315017" y="164592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badge-n-176"/>
          <p:cNvSpPr txBox="1"/>
          <p:nvPr/>
        </p:nvSpPr>
        <p:spPr>
          <a:xfrm>
            <a:off x="7315017" y="1645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when-177"/>
          <p:cNvSpPr txBox="1"/>
          <p:nvPr/>
        </p:nvSpPr>
        <p:spPr>
          <a:xfrm>
            <a:off x="7315017" y="224028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Month 3–6</a:t>
            </a:r>
            <a:endParaRPr lang="en-US" sz="1800" dirty="0"/>
          </a:p>
        </p:txBody>
      </p:sp>
      <p:sp>
        <p:nvSpPr>
          <p:cNvPr id="26" name="card-178"/>
          <p:cNvSpPr/>
          <p:nvPr/>
        </p:nvSpPr>
        <p:spPr>
          <a:xfrm>
            <a:off x="7315017" y="2743200"/>
            <a:ext cx="2072579" cy="2377440"/>
          </a:xfrm>
          <a:prstGeom prst="roundRect">
            <a:avLst>
              <a:gd name="adj" fmla="val 529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what-179"/>
          <p:cNvSpPr txBox="1"/>
          <p:nvPr/>
        </p:nvSpPr>
        <p:spPr>
          <a:xfrm>
            <a:off x="7479609" y="2907792"/>
            <a:ext cx="174339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Randomised test of coupon-habit reduction; scale only on a significant result</a:t>
            </a:r>
            <a:endParaRPr lang="en-US" sz="1500" dirty="0"/>
          </a:p>
        </p:txBody>
      </p:sp>
      <p:sp>
        <p:nvSpPr>
          <p:cNvPr id="28" name="who-180"/>
          <p:cNvSpPr txBox="1"/>
          <p:nvPr/>
        </p:nvSpPr>
        <p:spPr>
          <a:xfrm>
            <a:off x="7479609" y="4343400"/>
            <a:ext cx="17433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i="1" dirty="0">
                <a:solidFill>
                  <a:srgbClr val="5F5E5A"/>
                </a:solidFill>
              </a:rPr>
              <a:t>CRM, Analytics</a:t>
            </a:r>
            <a:endParaRPr lang="en-US" sz="1300" dirty="0"/>
          </a:p>
        </p:txBody>
      </p:sp>
      <p:sp>
        <p:nvSpPr>
          <p:cNvPr id="29" name="badge-181"/>
          <p:cNvSpPr/>
          <p:nvPr/>
        </p:nvSpPr>
        <p:spPr>
          <a:xfrm>
            <a:off x="9570476" y="164592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badge-n-182"/>
          <p:cNvSpPr txBox="1"/>
          <p:nvPr/>
        </p:nvSpPr>
        <p:spPr>
          <a:xfrm>
            <a:off x="9570476" y="1645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31" name="when-183"/>
          <p:cNvSpPr txBox="1"/>
          <p:nvPr/>
        </p:nvSpPr>
        <p:spPr>
          <a:xfrm>
            <a:off x="9570476" y="2240280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Month 4+</a:t>
            </a:r>
            <a:endParaRPr lang="en-US" sz="1800" dirty="0"/>
          </a:p>
        </p:txBody>
      </p:sp>
      <p:sp>
        <p:nvSpPr>
          <p:cNvPr id="32" name="card-184"/>
          <p:cNvSpPr/>
          <p:nvPr/>
        </p:nvSpPr>
        <p:spPr>
          <a:xfrm>
            <a:off x="9570476" y="2743200"/>
            <a:ext cx="2072579" cy="2377440"/>
          </a:xfrm>
          <a:prstGeom prst="roundRect">
            <a:avLst>
              <a:gd name="adj" fmla="val 529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what-185"/>
          <p:cNvSpPr txBox="1"/>
          <p:nvPr/>
        </p:nvSpPr>
        <p:spPr>
          <a:xfrm>
            <a:off x="9735068" y="2907792"/>
            <a:ext cx="174339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Instrument delivery time, stockouts and assortment to explain the remaining ~50%</a:t>
            </a:r>
            <a:endParaRPr lang="en-US" sz="1500" dirty="0"/>
          </a:p>
        </p:txBody>
      </p:sp>
      <p:sp>
        <p:nvSpPr>
          <p:cNvPr id="34" name="who-186"/>
          <p:cNvSpPr txBox="1"/>
          <p:nvPr/>
        </p:nvSpPr>
        <p:spPr>
          <a:xfrm>
            <a:off x="9735068" y="4343400"/>
            <a:ext cx="17433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i="1" dirty="0">
                <a:solidFill>
                  <a:srgbClr val="5F5E5A"/>
                </a:solidFill>
              </a:rPr>
              <a:t>Data Eng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199632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5E5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-187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shows, and what it does not</a:t>
            </a:r>
            <a:endParaRPr lang="en-US" sz="3600" dirty="0"/>
          </a:p>
        </p:txBody>
      </p:sp>
      <p:sp>
        <p:nvSpPr>
          <p:cNvPr id="3" name="h-188"/>
          <p:cNvSpPr txBox="1"/>
          <p:nvPr/>
        </p:nvSpPr>
        <p:spPr>
          <a:xfrm>
            <a:off x="548640" y="16002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</a:rPr>
              <a:t>Conclusion</a:t>
            </a:r>
            <a:endParaRPr lang="en-US" sz="2000" dirty="0"/>
          </a:p>
        </p:txBody>
      </p:sp>
      <p:sp>
        <p:nvSpPr>
          <p:cNvPr id="4" name="concl-189"/>
          <p:cNvSpPr txBox="1"/>
          <p:nvPr/>
        </p:nvSpPr>
        <p:spPr>
          <a:xfrm>
            <a:off x="548640" y="2103120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The repeat decline is real, concentrated in new customers, and was hidden by the KPI definition.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Support tickets, Electronics/Home after-sales and coupon habits are the measurable levers.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Change the metric now; fund the levers through controlled tests.</a:t>
            </a:r>
            <a:endParaRPr lang="en-US" sz="1700" dirty="0"/>
          </a:p>
        </p:txBody>
      </p:sp>
      <p:sp>
        <p:nvSpPr>
          <p:cNvPr id="5" name="h-190"/>
          <p:cNvSpPr txBox="1"/>
          <p:nvPr/>
        </p:nvSpPr>
        <p:spPr>
          <a:xfrm>
            <a:off x="6309360" y="1600200"/>
            <a:ext cx="5330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</a:rPr>
              <a:t>Limitations</a:t>
            </a:r>
            <a:endParaRPr lang="en-US" sz="2000" dirty="0"/>
          </a:p>
        </p:txBody>
      </p:sp>
      <p:sp>
        <p:nvSpPr>
          <p:cNvPr id="6" name="lim-191"/>
          <p:cNvSpPr txBox="1"/>
          <p:nvPr/>
        </p:nvSpPr>
        <p:spPr>
          <a:xfrm>
            <a:off x="6309360" y="2103120"/>
            <a:ext cx="5330952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Simulated data: methods transfer, numbers do not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Observational models; no experiment has been run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About half of the decline is unexplained by the available fields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Dollar figures rely on a 10% sample assumption and planning costs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Ticket and return timing may overlap the 30-day outcome window</a:t>
            </a:r>
            <a:endParaRPr lang="en-US" sz="1600" dirty="0"/>
          </a:p>
        </p:txBody>
      </p:sp>
      <p:sp>
        <p:nvSpPr>
          <p:cNvPr id="7" name="link-192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Full report, code and dashboard: github.com/Newnew-niu/ecommerce-repeat-purchase-analysis</a:t>
            </a:r>
            <a:endParaRPr lang="en-US" sz="1400" dirty="0"/>
          </a:p>
        </p:txBody>
      </p:sp>
      <p:sp>
        <p:nvSpPr>
          <p:cNvPr id="8" name="Text 0"/>
          <p:cNvSpPr/>
          <p:nvPr>
            <p:ph idx="100" type="title" hasCustomPrompt="1"/>
          </p:nvPr>
        </p:nvSpPr>
        <p:spPr>
          <a:xfrm>
            <a:off x="548640" y="2011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9" name="Text 0"/>
          <p:cNvSpPr/>
          <p:nvPr>
            <p:ph idx="101" type="body" hasCustomPrompt="1"/>
          </p:nvPr>
        </p:nvSpPr>
        <p:spPr>
          <a:xfrm>
            <a:off x="548640" y="36118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peat Purchase">
  <a:themeElements>
    <a:clrScheme name="Repeat Purchase">
      <a:dk1>
        <a:srgbClr val="1B1B1B"/>
      </a:dk1>
      <a:lt1>
        <a:srgbClr val="FFFFFF"/>
      </a:lt1>
      <a:dk2>
        <a:srgbClr val="16324F"/>
      </a:dk2>
      <a:lt2>
        <a:srgbClr val="EEF3F9"/>
      </a:lt2>
      <a:accent1>
        <a:srgbClr val="2A78D6"/>
      </a:accent1>
      <a:accent2>
        <a:srgbClr val="EB6834"/>
      </a:accent2>
      <a:accent3>
        <a:srgbClr val="1BAF7A"/>
      </a:accent3>
      <a:accent4>
        <a:srgbClr val="898781"/>
      </a:accent4>
      <a:accent5>
        <a:srgbClr val="9EC5F4"/>
      </a:accent5>
      <a:accent6>
        <a:srgbClr val="6250D6"/>
      </a:accent6>
      <a:hlink>
        <a:srgbClr val="2A78D6"/>
      </a:hlink>
      <a:folHlink>
        <a:srgbClr val="6250D6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New Customers Stopped Coming Back</dc:title>
  <dc:subject>E-commerce repeat purchase analysis</dc:subject>
  <dc:creator>Newnew-niu</dc:creator>
  <cp:lastModifiedBy>Newnew-niu</cp:lastModifiedBy>
  <cp:revision>1</cp:revision>
  <dcterms:created xsi:type="dcterms:W3CDTF">2026-10-28T13:36:43Z</dcterms:created>
  <dcterms:modified xsi:type="dcterms:W3CDTF">2026-10-28T13:36:43Z</dcterms:modified>
</cp:coreProperties>
</file>